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74" r:id="rId25"/>
    <p:sldId id="269" r:id="rId20"/>
    <p:sldId id="275" r:id="rId26"/>
    <p:sldId id="270" r:id="rId21"/>
    <p:sldId id="271" r:id="rId22"/>
    <p:sldId id="276" r:id="rId27"/>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5.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14.xml"/><Relationship Id="rId26" Type="http://schemas.openxmlformats.org/officeDocument/2006/relationships/slide" Target="slides/slide16.xml"/><Relationship Id="rId27"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32720" cy="3200400"/>
          </a:xfrm>
          <a:prstGeom prst="rect">
            <a:avLst/>
          </a:prstGeom>
          <a:noFill/>
        </p:spPr>
        <p:txBody>
          <a:bodyPr wrap="square">
            <a:spAutoFit/>
          </a:bodyPr>
          <a:lstStyle/>
          <a:p>
            <a:pPr>
              <a:defRPr sz="1400" b="1">
                <a:solidFill>
                  <a:srgbClr val="DA1A32"/>
                </a:solidFill>
              </a:defRPr>
            </a:pPr>
            <a:r>
              <a:t>NEWTON SCHOOL SQL ADVANCED CAPSTONE PROJECT</a:t>
            </a:r>
          </a:p>
          <a:p>
            <a:pPr>
              <a:spcBef>
                <a:spcPts val="1000"/>
              </a:spcBef>
              <a:defRPr sz="3600" b="1">
                <a:solidFill>
                  <a:srgbClr val="0F1E36"/>
                </a:solidFill>
              </a:defRPr>
            </a:pPr>
            <a:r>
              <a:t>RCB IPL Performance Analytics &amp;</a:t>
            </a:r>
            <a:br/>
            <a:r>
              <a:t>2017 Mega Auction Strategy</a:t>
            </a:r>
          </a:p>
          <a:p>
            <a:pPr>
              <a:spcBef>
                <a:spcPts val="2000"/>
              </a:spcBef>
              <a:defRPr sz="1400">
                <a:solidFill>
                  <a:srgbClr val="333333"/>
                </a:solidFill>
              </a:defRPr>
            </a:pPr>
            <a:r>
              <a:t>Comprehensive Empirical Diagnostics, Venue Dynamics, and Squad Reconstruction Blueprint</a:t>
            </a:r>
            <a:br/>
            <a:r>
              <a:t>Author: Sports Data Analyst | Database: ipl_db (Seasons 2008–2016)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100" b="1">
                <a:solidFill>
                  <a:srgbClr val="DA1A32"/>
                </a:solidFill>
              </a:defRPr>
            </a:pPr>
            <a:r>
              <a:t>EXECUTIVE BRIEF</a:t>
            </a:r>
          </a:p>
          <a:p>
            <a:pPr>
              <a:defRPr sz="2200" b="1">
                <a:solidFill>
                  <a:srgbClr val="0F1E36"/>
                </a:solidFill>
              </a:defRPr>
            </a:pPr>
            <a:r>
              <a:t>Problem Statement &amp; Strategic Mandate</a:t>
            </a:r>
          </a:p>
        </p:txBody>
      </p:sp>
      <p:sp>
        <p:nvSpPr>
          <p:cNvPr id="3" name="TextBox 2"/>
          <p:cNvSpPr txBox="1"/>
          <p:nvPr/>
        </p:nvSpPr>
        <p:spPr>
          <a:xfrm>
            <a:off x="914400" y="1645920"/>
            <a:ext cx="10332720" cy="4572000"/>
          </a:xfrm>
          <a:prstGeom prst="rect">
            <a:avLst/>
          </a:prstGeom>
          <a:noFill/>
        </p:spPr>
        <p:txBody>
          <a:bodyPr wrap="square">
            <a:spAutoFit/>
          </a:bodyPr>
          <a:lstStyle/>
          <a:p>
            <a:pPr>
              <a:spcBef>
                <a:spcPts val="0"/>
              </a:spcBef>
              <a:defRPr sz="1800" b="1">
                <a:solidFill>
                  <a:srgbClr val="DA1A32"/>
                </a:solidFill>
              </a:defRPr>
            </a:pPr>
            <a:r>
              <a:t>1. Context &amp; Objective</a:t>
            </a:r>
          </a:p>
          <a:p>
            <a:pPr>
              <a:spcBef>
                <a:spcPts val="400"/>
              </a:spcBef>
              <a:defRPr sz="1400">
                <a:solidFill>
                  <a:srgbClr val="333333"/>
                </a:solidFill>
              </a:defRPr>
            </a:pPr>
            <a:r>
              <a:t>Hired as the sports data analyst for Royal Challengers Bangalore (RCB) ahead of the pivotal 2017 Mega Player Auction. The primary objective is to analyze 9 seasons of historical IPL data (2008–2016) to uncover root causes of tournament underperformance and design a championship-winning roster strategy.</a:t>
            </a:r>
          </a:p>
          <a:p>
            <a:pPr>
              <a:spcBef>
                <a:spcPts val="1600"/>
              </a:spcBef>
              <a:defRPr sz="1800" b="1">
                <a:solidFill>
                  <a:srgbClr val="DA1A32"/>
                </a:solidFill>
              </a:defRPr>
            </a:pPr>
            <a:r>
              <a:t>2. The Core Paradox</a:t>
            </a:r>
          </a:p>
          <a:p>
            <a:pPr>
              <a:spcBef>
                <a:spcPts val="400"/>
              </a:spcBef>
              <a:defRPr sz="1400">
                <a:solidFill>
                  <a:srgbClr val="333333"/>
                </a:solidFill>
              </a:defRPr>
            </a:pPr>
            <a:r>
              <a:t>RCB boasts the most destructive batting triumvirate in T20 history (Virat Kohli, AB de Villiers, Chris Gayle), regularly setting world scoring records. Despite reaching three IPL finals (2009, 2011, 2016), the franchise has never won the trophy.</a:t>
            </a:r>
          </a:p>
          <a:p>
            <a:pPr>
              <a:spcBef>
                <a:spcPts val="1600"/>
              </a:spcBef>
              <a:defRPr sz="1800" b="1">
                <a:solidFill>
                  <a:srgbClr val="DA1A32"/>
                </a:solidFill>
              </a:defRPr>
            </a:pPr>
            <a:r>
              <a:t>3. Analytical Scope</a:t>
            </a:r>
          </a:p>
          <a:p>
            <a:pPr>
              <a:spcBef>
                <a:spcPts val="400"/>
              </a:spcBef>
              <a:defRPr sz="1400">
                <a:solidFill>
                  <a:srgbClr val="333333"/>
                </a:solidFill>
              </a:defRPr>
            </a:pPr>
            <a:r>
              <a:t>Deliver empirical diagnostics addressing: (1) Toss &amp; Chasing impact across stadiums, (2) Chinnaswamy home fortress vulnerability, (3) Phase-wise bowling degradation (especially death overs), and (4) Optimal all-rounder and pace recruitment for 2017.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100" b="1">
                <a:solidFill>
                  <a:srgbClr val="DA1A32"/>
                </a:solidFill>
              </a:defRPr>
            </a:pPr>
            <a:r>
              <a:t>DATA ARCHITECTURE</a:t>
            </a:r>
          </a:p>
          <a:p>
            <a:pPr>
              <a:defRPr sz="2200" b="1">
                <a:solidFill>
                  <a:srgbClr val="0F1E36"/>
                </a:solidFill>
              </a:defRPr>
            </a:pPr>
            <a:r>
              <a:t>Data Overview &amp; Dataset Dimensions</a:t>
            </a:r>
          </a:p>
        </p:txBody>
      </p:sp>
      <p:sp>
        <p:nvSpPr>
          <p:cNvPr id="3" name="TextBox 2"/>
          <p:cNvSpPr txBox="1"/>
          <p:nvPr/>
        </p:nvSpPr>
        <p:spPr>
          <a:xfrm>
            <a:off x="914400" y="1645920"/>
            <a:ext cx="10332720" cy="4572000"/>
          </a:xfrm>
          <a:prstGeom prst="rect">
            <a:avLst/>
          </a:prstGeom>
          <a:noFill/>
        </p:spPr>
        <p:txBody>
          <a:bodyPr wrap="square">
            <a:spAutoFit/>
          </a:bodyPr>
          <a:lstStyle/>
          <a:p>
            <a:pPr>
              <a:spcBef>
                <a:spcPts val="0"/>
              </a:spcBef>
              <a:defRPr sz="1800" b="1">
                <a:solidFill>
                  <a:srgbClr val="0F1E36"/>
                </a:solidFill>
              </a:defRPr>
            </a:pPr>
            <a:r>
              <a:t>1. Dataset Scope &amp; Depth</a:t>
            </a:r>
          </a:p>
          <a:p>
            <a:pPr>
              <a:spcBef>
                <a:spcPts val="400"/>
              </a:spcBef>
              <a:defRPr sz="1400">
                <a:solidFill>
                  <a:srgbClr val="333333"/>
                </a:solidFill>
              </a:defRPr>
            </a:pPr>
            <a:r>
              <a:t>The dataset contains exhaustive delivery-level and match-level records spanning 9 complete seasons (2008 to 2016). Total records: 577 matches, 136,590 deliveries (Ball_by_Ball), 133,097 scoring events, 7,469 extra-run instances, and 6,727 dismissals.</a:t>
            </a:r>
          </a:p>
          <a:p>
            <a:pPr>
              <a:spcBef>
                <a:spcPts val="1600"/>
              </a:spcBef>
              <a:defRPr sz="1800" b="1">
                <a:solidFill>
                  <a:srgbClr val="0F1E36"/>
                </a:solidFill>
              </a:defRPr>
            </a:pPr>
            <a:r>
              <a:t>2. Core Entities Tracked</a:t>
            </a:r>
          </a:p>
          <a:p>
            <a:pPr>
              <a:spcBef>
                <a:spcPts val="400"/>
              </a:spcBef>
              <a:defRPr sz="1400">
                <a:solidFill>
                  <a:srgbClr val="333333"/>
                </a:solidFill>
              </a:defRPr>
            </a:pPr>
            <a:r>
              <a:t>Entities include 469 registered players, 13 IPL franchises, 35 international and domestic cricket stadiums, 14 classified bowling skills, 2 batting hands, and 9 dismissal types.</a:t>
            </a:r>
          </a:p>
          <a:p>
            <a:pPr>
              <a:spcBef>
                <a:spcPts val="1600"/>
              </a:spcBef>
              <a:defRPr sz="1800" b="1">
                <a:solidFill>
                  <a:srgbClr val="0F1E36"/>
                </a:solidFill>
              </a:defRPr>
            </a:pPr>
            <a:r>
              <a:t>3. Data Quality &amp; Cleansing</a:t>
            </a:r>
          </a:p>
          <a:p>
            <a:pPr>
              <a:spcBef>
                <a:spcPts val="400"/>
              </a:spcBef>
              <a:defRPr sz="1400">
                <a:solidFill>
                  <a:srgbClr val="333333"/>
                </a:solidFill>
              </a:defRPr>
            </a:pPr>
            <a:r>
              <a:t>Strict cricket scoring hygiene applied: (1) Run outs, retired hurt, and obstructing field dismissals removed from bowler wickets; (2) Wides excluded from batsman balls faced; (3) Multi-table left joins applied to capture unearned extras.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914400"/>
          </a:xfrm>
          <a:prstGeom prst="rect">
            <a:avLst/>
          </a:prstGeom>
          <a:noFill/>
        </p:spPr>
        <p:txBody>
          <a:bodyPr wrap="square" lIns="0" tIns="0" rIns="0" bIns="0">
            <a:spAutoFit/>
          </a:bodyPr>
          <a:lstStyle/>
          <a:p>
            <a:pPr>
              <a:spcAft>
                <a:spcPts val="200"/>
              </a:spcAft>
              <a:defRPr sz="1100" b="1">
                <a:solidFill>
                  <a:srgbClr val="C41E3A"/>
                </a:solidFill>
                <a:latin typeface="Arial"/>
              </a:defRPr>
            </a:pPr>
            <a:r>
              <a:t>DATA ARCHITECTURE &amp; SCHEMA</a:t>
            </a:r>
          </a:p>
          <a:p>
            <a:pPr>
              <a:defRPr sz="2200" b="1">
                <a:solidFill>
                  <a:srgbClr val="0F172A"/>
                </a:solidFill>
                <a:latin typeface="Arial"/>
              </a:defRPr>
            </a:pPr>
            <a:r>
              <a:t>Database Schema &amp; Analytical Data Model</a:t>
            </a:r>
          </a:p>
        </p:txBody>
      </p:sp>
      <p:pic>
        <p:nvPicPr>
          <p:cNvPr id="3" name="Picture 2" descr="schema_erd_model.png"/>
          <p:cNvPicPr>
            <a:picLocks noChangeAspect="1"/>
          </p:cNvPicPr>
          <p:nvPr/>
        </p:nvPicPr>
        <p:blipFill>
          <a:blip r:embed="rId2"/>
          <a:stretch>
            <a:fillRect/>
          </a:stretch>
        </p:blipFill>
        <p:spPr>
          <a:xfrm>
            <a:off x="685800" y="1325880"/>
            <a:ext cx="10817352" cy="516636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100" b="1">
                <a:solidFill>
                  <a:srgbClr val="DA1A32"/>
                </a:solidFill>
              </a:defRPr>
            </a:pPr>
            <a:r>
              <a:t>BATTING VELOCITY ANALYSIS</a:t>
            </a:r>
          </a:p>
          <a:p>
            <a:pPr>
              <a:defRPr sz="2200" b="1">
                <a:solidFill>
                  <a:srgbClr val="0F1E36"/>
                </a:solidFill>
              </a:defRPr>
            </a:pPr>
            <a:r>
              <a:t>Top 10 Batsmen by Strike Rate (2013–2016)</a:t>
            </a:r>
          </a:p>
        </p:txBody>
      </p:sp>
      <p:pic>
        <p:nvPicPr>
          <p:cNvPr id="3" name="Picture 2" descr="chart_o5_strike_rates.png"/>
          <p:cNvPicPr>
            <a:picLocks noChangeAspect="1"/>
          </p:cNvPicPr>
          <p:nvPr/>
        </p:nvPicPr>
        <p:blipFill>
          <a:blip r:embed="rId2"/>
          <a:stretch>
            <a:fillRect/>
          </a:stretch>
        </p:blipFill>
        <p:spPr>
          <a:xfrm>
            <a:off x="731520" y="1645920"/>
            <a:ext cx="5486400" cy="3017520"/>
          </a:xfrm>
          <a:prstGeom prst="rect">
            <a:avLst/>
          </a:prstGeom>
        </p:spPr>
      </p:pic>
      <p:sp>
        <p:nvSpPr>
          <p:cNvPr id="4" name="TextBox 3"/>
          <p:cNvSpPr txBox="1"/>
          <p:nvPr/>
        </p:nvSpPr>
        <p:spPr>
          <a:xfrm>
            <a:off x="6492240" y="1645920"/>
            <a:ext cx="4937760" cy="4572000"/>
          </a:xfrm>
          <a:prstGeom prst="rect">
            <a:avLst/>
          </a:prstGeom>
          <a:noFill/>
        </p:spPr>
        <p:txBody>
          <a:bodyPr wrap="square" lIns="0" tIns="0" rIns="0" bIns="0">
            <a:spAutoFit/>
          </a:bodyPr>
          <a:lstStyle/>
          <a:p>
            <a:pPr>
              <a:spcBef>
                <a:spcPts val="0"/>
              </a:spcBef>
              <a:defRPr sz="1500" b="1">
                <a:solidFill>
                  <a:srgbClr val="0F1E36"/>
                </a:solidFill>
              </a:defRPr>
            </a:pPr>
            <a:r>
              <a:t>• Power Hitters Setting Modern Tempo</a:t>
            </a:r>
          </a:p>
          <a:p>
            <a:pPr>
              <a:spcBef>
                <a:spcPts val="400"/>
              </a:spcBef>
              <a:defRPr sz="1300">
                <a:solidFill>
                  <a:srgbClr val="333333"/>
                </a:solidFill>
              </a:defRPr>
            </a:pPr>
            <a:r>
              <a:t>Krunal Pandya (191.13 SR) and Luke Wright (176.67 SR) top the strike rate charts for batsmen facing &gt;= 50 legal balls.</a:t>
            </a:r>
          </a:p>
          <a:p>
            <a:pPr>
              <a:spcBef>
                <a:spcPts val="1200"/>
              </a:spcBef>
              <a:defRPr sz="1500" b="1">
                <a:solidFill>
                  <a:srgbClr val="0F1E36"/>
                </a:solidFill>
              </a:defRPr>
            </a:pPr>
            <a:r>
              <a:t>• High-Volume Outlier</a:t>
            </a:r>
          </a:p>
          <a:p>
            <a:pPr>
              <a:spcBef>
                <a:spcPts val="400"/>
              </a:spcBef>
              <a:defRPr sz="1300">
                <a:solidFill>
                  <a:srgbClr val="333333"/>
                </a:solidFill>
              </a:defRPr>
            </a:pPr>
            <a:r>
              <a:t>AB de Villiers is the standout high-volume powerhouse, striking at 167.92 across an extraordinary 1,172 balls faced.</a:t>
            </a:r>
          </a:p>
          <a:p>
            <a:pPr>
              <a:spcBef>
                <a:spcPts val="1200"/>
              </a:spcBef>
              <a:defRPr sz="1500" b="1">
                <a:solidFill>
                  <a:srgbClr val="0F1E36"/>
                </a:solidFill>
              </a:defRPr>
            </a:pPr>
            <a:r>
              <a:t>• Strategic Tactical Takeaway</a:t>
            </a:r>
          </a:p>
          <a:p>
            <a:pPr>
              <a:spcBef>
                <a:spcPts val="400"/>
              </a:spcBef>
              <a:defRPr sz="1300">
                <a:solidFill>
                  <a:srgbClr val="333333"/>
                </a:solidFill>
              </a:defRPr>
            </a:pPr>
            <a:r>
              <a:t>T20 batting requires dynamic finishing over pure accumulator pacing; lower-order strike rates above 170 swing close finishes.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100" b="1">
                <a:solidFill>
                  <a:srgbClr val="DA1A32"/>
                </a:solidFill>
              </a:defRPr>
            </a:pPr>
            <a:r>
              <a:t>VOLUME RUN PRODUCTION</a:t>
            </a:r>
          </a:p>
          <a:p>
            <a:pPr>
              <a:defRPr sz="2200" b="1">
                <a:solidFill>
                  <a:srgbClr val="0F1E36"/>
                </a:solidFill>
              </a:defRPr>
            </a:pPr>
            <a:r>
              <a:t>Top 10 Run Scorers (Seasons 2013–2016)</a:t>
            </a:r>
          </a:p>
        </p:txBody>
      </p:sp>
      <p:pic>
        <p:nvPicPr>
          <p:cNvPr id="3" name="Picture 2" descr="chart_o6_top_batsmen.png"/>
          <p:cNvPicPr>
            <a:picLocks noChangeAspect="1"/>
          </p:cNvPicPr>
          <p:nvPr/>
        </p:nvPicPr>
        <p:blipFill>
          <a:blip r:embed="rId2"/>
          <a:stretch>
            <a:fillRect/>
          </a:stretch>
        </p:blipFill>
        <p:spPr>
          <a:xfrm>
            <a:off x="731520" y="1645920"/>
            <a:ext cx="5486400" cy="3017520"/>
          </a:xfrm>
          <a:prstGeom prst="rect">
            <a:avLst/>
          </a:prstGeom>
        </p:spPr>
      </p:pic>
      <p:sp>
        <p:nvSpPr>
          <p:cNvPr id="4" name="TextBox 3"/>
          <p:cNvSpPr txBox="1"/>
          <p:nvPr/>
        </p:nvSpPr>
        <p:spPr>
          <a:xfrm>
            <a:off x="6492240" y="1645920"/>
            <a:ext cx="4937760" cy="4572000"/>
          </a:xfrm>
          <a:prstGeom prst="rect">
            <a:avLst/>
          </a:prstGeom>
          <a:noFill/>
        </p:spPr>
        <p:txBody>
          <a:bodyPr wrap="square" lIns="0" tIns="0" rIns="0" bIns="0">
            <a:spAutoFit/>
          </a:bodyPr>
          <a:lstStyle/>
          <a:p>
            <a:pPr>
              <a:spcBef>
                <a:spcPts val="0"/>
              </a:spcBef>
              <a:defRPr sz="1500" b="1">
                <a:solidFill>
                  <a:srgbClr val="0F1E36"/>
                </a:solidFill>
              </a:defRPr>
            </a:pPr>
            <a:r>
              <a:t>• Franchise Heavyweights Dominating Scoring</a:t>
            </a:r>
          </a:p>
          <a:p>
            <a:pPr>
              <a:spcBef>
                <a:spcPts val="400"/>
              </a:spcBef>
              <a:defRPr sz="1300">
                <a:solidFill>
                  <a:srgbClr val="333333"/>
                </a:solidFill>
              </a:defRPr>
            </a:pPr>
            <a:r>
              <a:t>Virat Kohli leads all IPL run scorers with 2,472 runs in 62 matches (39.87 avg/match), followed by David Warner (2,348 runs in 61 matches, 38.49 avg/match).</a:t>
            </a:r>
          </a:p>
          <a:p>
            <a:pPr>
              <a:spcBef>
                <a:spcPts val="1200"/>
              </a:spcBef>
              <a:defRPr sz="1500" b="1">
                <a:solidFill>
                  <a:srgbClr val="0F1E36"/>
                </a:solidFill>
              </a:defRPr>
            </a:pPr>
            <a:r>
              <a:t>• Concentration of Scoring Output</a:t>
            </a:r>
          </a:p>
          <a:p>
            <a:pPr>
              <a:spcBef>
                <a:spcPts val="400"/>
              </a:spcBef>
              <a:defRPr sz="1300">
                <a:solidFill>
                  <a:srgbClr val="333333"/>
                </a:solidFill>
              </a:defRPr>
            </a:pPr>
            <a:r>
              <a:t>The top 3 run scorers account for over 6,700 runs, demonstrating the heavy reliance of franchises on top-order consistency.</a:t>
            </a:r>
          </a:p>
          <a:p>
            <a:pPr>
              <a:spcBef>
                <a:spcPts val="1200"/>
              </a:spcBef>
              <a:defRPr sz="1500" b="1">
                <a:solidFill>
                  <a:srgbClr val="0F1E36"/>
                </a:solidFill>
              </a:defRPr>
            </a:pPr>
            <a:r>
              <a:t>• Auction Benchmark</a:t>
            </a:r>
          </a:p>
          <a:p>
            <a:pPr>
              <a:spcBef>
                <a:spcPts val="400"/>
              </a:spcBef>
              <a:defRPr sz="1300">
                <a:solidFill>
                  <a:srgbClr val="333333"/>
                </a:solidFill>
              </a:defRPr>
            </a:pPr>
            <a:r>
              <a:t>Within the analyzed dataset, top-tier batting anchors consistently generate 450+ runs per season, indicating an essential benchmark for top-order recruitment and lineup stability.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100" b="1">
                <a:solidFill>
                  <a:srgbClr val="DA1A32"/>
                </a:solidFill>
              </a:defRPr>
            </a:pPr>
            <a:r>
              <a:t>BOWLING PENETRATION METRICS</a:t>
            </a:r>
          </a:p>
          <a:p>
            <a:pPr>
              <a:defRPr sz="2200" b="1">
                <a:solidFill>
                  <a:srgbClr val="0F1E36"/>
                </a:solidFill>
              </a:defRPr>
            </a:pPr>
            <a:r>
              <a:t>Top 10 Wicket-Takers (2013–2016)</a:t>
            </a:r>
          </a:p>
        </p:txBody>
      </p:sp>
      <p:pic>
        <p:nvPicPr>
          <p:cNvPr id="3" name="Picture 2" descr="chart_o7_top_bowlers.png"/>
          <p:cNvPicPr>
            <a:picLocks noChangeAspect="1"/>
          </p:cNvPicPr>
          <p:nvPr/>
        </p:nvPicPr>
        <p:blipFill>
          <a:blip r:embed="rId2"/>
          <a:stretch>
            <a:fillRect/>
          </a:stretch>
        </p:blipFill>
        <p:spPr>
          <a:xfrm>
            <a:off x="731520" y="1645920"/>
            <a:ext cx="5486400" cy="3017520"/>
          </a:xfrm>
          <a:prstGeom prst="rect">
            <a:avLst/>
          </a:prstGeom>
        </p:spPr>
      </p:pic>
      <p:sp>
        <p:nvSpPr>
          <p:cNvPr id="4" name="TextBox 3"/>
          <p:cNvSpPr txBox="1"/>
          <p:nvPr/>
        </p:nvSpPr>
        <p:spPr>
          <a:xfrm>
            <a:off x="6492240" y="1645920"/>
            <a:ext cx="4937760" cy="4572000"/>
          </a:xfrm>
          <a:prstGeom prst="rect">
            <a:avLst/>
          </a:prstGeom>
          <a:noFill/>
        </p:spPr>
        <p:txBody>
          <a:bodyPr wrap="square" lIns="0" tIns="0" rIns="0" bIns="0">
            <a:spAutoFit/>
          </a:bodyPr>
          <a:lstStyle/>
          <a:p>
            <a:pPr>
              <a:spcBef>
                <a:spcPts val="0"/>
              </a:spcBef>
              <a:defRPr sz="1500" b="1">
                <a:solidFill>
                  <a:srgbClr val="0F1E36"/>
                </a:solidFill>
              </a:defRPr>
            </a:pPr>
            <a:r>
              <a:t>• Pace Spearheads Leading Dismissals</a:t>
            </a:r>
          </a:p>
          <a:p>
            <a:pPr>
              <a:spcBef>
                <a:spcPts val="400"/>
              </a:spcBef>
              <a:defRPr sz="1300">
                <a:solidFill>
                  <a:srgbClr val="333333"/>
                </a:solidFill>
              </a:defRPr>
            </a:pPr>
            <a:r>
              <a:t>Dwayne Bravo (75 wkts in 42 matches) and Bhuvneshwar Kumar (74 wkts in 41 matches) lead the tournament under official dismissal credit rules.</a:t>
            </a:r>
          </a:p>
          <a:p>
            <a:pPr>
              <a:spcBef>
                <a:spcPts val="1200"/>
              </a:spcBef>
              <a:defRPr sz="1500" b="1">
                <a:solidFill>
                  <a:srgbClr val="0F1E36"/>
                </a:solidFill>
              </a:defRPr>
            </a:pPr>
            <a:r>
              <a:t>• Strike Frequency</a:t>
            </a:r>
          </a:p>
          <a:p>
            <a:pPr>
              <a:spcBef>
                <a:spcPts val="400"/>
              </a:spcBef>
              <a:defRPr sz="1300">
                <a:solidFill>
                  <a:srgbClr val="333333"/>
                </a:solidFill>
              </a:defRPr>
            </a:pPr>
            <a:r>
              <a:t>Mohit Sharma (70 wkts in 40 matches) and Harbhajan Singh (65 wkts in 42 matches) average over 1.55 wickets per match, proving that wicket-taking breaks batting momentum.</a:t>
            </a:r>
          </a:p>
          <a:p>
            <a:pPr>
              <a:spcBef>
                <a:spcPts val="1200"/>
              </a:spcBef>
              <a:defRPr sz="1500" b="1">
                <a:solidFill>
                  <a:srgbClr val="0F1E36"/>
                </a:solidFill>
              </a:defRPr>
            </a:pPr>
            <a:r>
              <a:t>• RCB Gap Analysis</a:t>
            </a:r>
          </a:p>
          <a:p>
            <a:pPr>
              <a:spcBef>
                <a:spcPts val="400"/>
              </a:spcBef>
              <a:defRPr sz="1300">
                <a:solidFill>
                  <a:srgbClr val="333333"/>
                </a:solidFill>
              </a:defRPr>
            </a:pPr>
            <a:r>
              <a:t>Within the analyzed dataset, RCB lacked a top-5 tournament wicket taker, highlighting bowling penetration as a key area for squad-strengthening investigation.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100" b="1">
                <a:solidFill>
                  <a:srgbClr val="DA1A32"/>
                </a:solidFill>
              </a:defRPr>
            </a:pPr>
            <a:r>
              <a:t>VENUE RECORD BREAKDOWN</a:t>
            </a:r>
          </a:p>
          <a:p>
            <a:pPr>
              <a:defRPr sz="2200" b="1">
                <a:solidFill>
                  <a:srgbClr val="0F1E36"/>
                </a:solidFill>
              </a:defRPr>
            </a:pPr>
            <a:r>
              <a:t>RCB Wins vs Losses Across Major Stadiums</a:t>
            </a:r>
          </a:p>
        </p:txBody>
      </p:sp>
      <p:pic>
        <p:nvPicPr>
          <p:cNvPr id="3" name="Picture 2" descr="chart_o9_rcb_venue_record.png"/>
          <p:cNvPicPr>
            <a:picLocks noChangeAspect="1"/>
          </p:cNvPicPr>
          <p:nvPr/>
        </p:nvPicPr>
        <p:blipFill>
          <a:blip r:embed="rId2"/>
          <a:stretch>
            <a:fillRect/>
          </a:stretch>
        </p:blipFill>
        <p:spPr>
          <a:xfrm>
            <a:off x="731520" y="1645920"/>
            <a:ext cx="5486400" cy="2743200"/>
          </a:xfrm>
          <a:prstGeom prst="rect">
            <a:avLst/>
          </a:prstGeom>
        </p:spPr>
      </p:pic>
      <p:sp>
        <p:nvSpPr>
          <p:cNvPr id="4" name="TextBox 3"/>
          <p:cNvSpPr txBox="1"/>
          <p:nvPr/>
        </p:nvSpPr>
        <p:spPr>
          <a:xfrm>
            <a:off x="6492240" y="1645920"/>
            <a:ext cx="4937760" cy="4572000"/>
          </a:xfrm>
          <a:prstGeom prst="rect">
            <a:avLst/>
          </a:prstGeom>
          <a:noFill/>
        </p:spPr>
        <p:txBody>
          <a:bodyPr wrap="square" lIns="0" tIns="0" rIns="0" bIns="0">
            <a:spAutoFit/>
          </a:bodyPr>
          <a:lstStyle/>
          <a:p>
            <a:pPr>
              <a:spcBef>
                <a:spcPts val="0"/>
              </a:spcBef>
              <a:defRPr sz="1500" b="1">
                <a:solidFill>
                  <a:srgbClr val="0F1E36"/>
                </a:solidFill>
              </a:defRPr>
            </a:pPr>
            <a:r>
              <a:t>• Chinnaswamy Match Volume</a:t>
            </a:r>
          </a:p>
          <a:p>
            <a:pPr>
              <a:spcBef>
                <a:spcPts val="400"/>
              </a:spcBef>
              <a:defRPr sz="1300">
                <a:solidFill>
                  <a:srgbClr val="333333"/>
                </a:solidFill>
              </a:defRPr>
            </a:pPr>
            <a:r>
              <a:t>RCB contested 27 completed matches at Chinnaswamy (2013–2016), winning 16 and losing 11 (59.26% win rate; 2 matches ended in No Result).</a:t>
            </a:r>
          </a:p>
          <a:p>
            <a:pPr>
              <a:spcBef>
                <a:spcPts val="1200"/>
              </a:spcBef>
              <a:defRPr sz="1500" b="1">
                <a:solidFill>
                  <a:srgbClr val="0F1E36"/>
                </a:solidFill>
              </a:defRPr>
            </a:pPr>
            <a:r>
              <a:t>• Away Ground Polarization</a:t>
            </a:r>
          </a:p>
          <a:p>
            <a:pPr>
              <a:spcBef>
                <a:spcPts val="400"/>
              </a:spcBef>
              <a:defRPr sz="1300">
                <a:solidFill>
                  <a:srgbClr val="333333"/>
                </a:solidFill>
              </a:defRPr>
            </a:pPr>
            <a:r>
              <a:t>Strong away conversions at Feroz Shah Kotla (2-0) and MCA Pune (2-0) contrast sharply with 0 wins at MA Chidambaram Chepauk (0-2).</a:t>
            </a:r>
          </a:p>
          <a:p>
            <a:pPr>
              <a:spcBef>
                <a:spcPts val="1200"/>
              </a:spcBef>
              <a:defRPr sz="1500" b="1">
                <a:solidFill>
                  <a:srgbClr val="0F1E36"/>
                </a:solidFill>
              </a:defRPr>
            </a:pPr>
            <a:r>
              <a:t>• Tactical Alignment</a:t>
            </a:r>
          </a:p>
          <a:p>
            <a:pPr>
              <a:spcBef>
                <a:spcPts val="400"/>
              </a:spcBef>
              <a:defRPr sz="1300">
                <a:solidFill>
                  <a:srgbClr val="333333"/>
                </a:solidFill>
              </a:defRPr>
            </a:pPr>
            <a:r>
              <a:t>Pitch conditions dictate outcomes; turning tracks require specialized defensive spin units that RCB historically under-indexed.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100" b="1">
                <a:solidFill>
                  <a:srgbClr val="DA1A32"/>
                </a:solidFill>
              </a:defRPr>
            </a:pPr>
            <a:r>
              <a:t>SKILL-BASED WICKET POTENCY</a:t>
            </a:r>
          </a:p>
          <a:p>
            <a:pPr>
              <a:defRPr sz="2200" b="1">
                <a:solidFill>
                  <a:srgbClr val="0F1E36"/>
                </a:solidFill>
              </a:defRPr>
            </a:pPr>
            <a:r>
              <a:t>Bowling Style Impact on Wickets Taken</a:t>
            </a:r>
          </a:p>
        </p:txBody>
      </p:sp>
      <p:pic>
        <p:nvPicPr>
          <p:cNvPr id="3" name="Picture 2" descr="chart_o10_bowling_styles.png"/>
          <p:cNvPicPr>
            <a:picLocks noChangeAspect="1"/>
          </p:cNvPicPr>
          <p:nvPr/>
        </p:nvPicPr>
        <p:blipFill>
          <a:blip r:embed="rId2"/>
          <a:stretch>
            <a:fillRect/>
          </a:stretch>
        </p:blipFill>
        <p:spPr>
          <a:xfrm>
            <a:off x="731520" y="1645920"/>
            <a:ext cx="5486400" cy="3017520"/>
          </a:xfrm>
          <a:prstGeom prst="rect">
            <a:avLst/>
          </a:prstGeom>
        </p:spPr>
      </p:pic>
      <p:sp>
        <p:nvSpPr>
          <p:cNvPr id="4" name="TextBox 3"/>
          <p:cNvSpPr txBox="1"/>
          <p:nvPr/>
        </p:nvSpPr>
        <p:spPr>
          <a:xfrm>
            <a:off x="6492240" y="1645920"/>
            <a:ext cx="4937760" cy="4572000"/>
          </a:xfrm>
          <a:prstGeom prst="rect">
            <a:avLst/>
          </a:prstGeom>
          <a:noFill/>
        </p:spPr>
        <p:txBody>
          <a:bodyPr wrap="square" lIns="0" tIns="0" rIns="0" bIns="0">
            <a:spAutoFit/>
          </a:bodyPr>
          <a:lstStyle/>
          <a:p>
            <a:pPr>
              <a:spcBef>
                <a:spcPts val="0"/>
              </a:spcBef>
              <a:defRPr sz="1500" b="1">
                <a:solidFill>
                  <a:srgbClr val="0F1E36"/>
                </a:solidFill>
              </a:defRPr>
            </a:pPr>
            <a:r>
              <a:t>• Volume vs Strike Potency</a:t>
            </a:r>
          </a:p>
          <a:p>
            <a:pPr>
              <a:spcBef>
                <a:spcPts val="400"/>
              </a:spcBef>
              <a:defRPr sz="1300">
                <a:solidFill>
                  <a:srgbClr val="333333"/>
                </a:solidFill>
              </a:defRPr>
            </a:pPr>
            <a:r>
              <a:t>Right-arm medium pacers bowl the highest volume (553 wkts across 33 bowlers, 16.76 wkts/bowler).</a:t>
            </a:r>
          </a:p>
          <a:p>
            <a:pPr>
              <a:spcBef>
                <a:spcPts val="1200"/>
              </a:spcBef>
              <a:defRPr sz="1500" b="1">
                <a:solidFill>
                  <a:srgbClr val="0F1E36"/>
                </a:solidFill>
              </a:defRPr>
            </a:pPr>
            <a:r>
              <a:t>• Left-Arm Pace &amp; Wrist Spin Superiority</a:t>
            </a:r>
          </a:p>
          <a:p>
            <a:pPr>
              <a:spcBef>
                <a:spcPts val="400"/>
              </a:spcBef>
              <a:defRPr sz="1300">
                <a:solidFill>
                  <a:srgbClr val="333333"/>
                </a:solidFill>
              </a:defRPr>
            </a:pPr>
            <a:r>
              <a:t>Left-arm fast bowlers deliver the highest per-bowler impact (30.33 wkts/bowler), followed by Legbreak Googly spinners (19.50 wkts/bowler).</a:t>
            </a:r>
          </a:p>
          <a:p>
            <a:pPr>
              <a:spcBef>
                <a:spcPts val="1200"/>
              </a:spcBef>
              <a:defRPr sz="1500" b="1">
                <a:solidFill>
                  <a:srgbClr val="0F1E36"/>
                </a:solidFill>
              </a:defRPr>
            </a:pPr>
            <a:r>
              <a:t>• Recruitment Priority</a:t>
            </a:r>
          </a:p>
          <a:p>
            <a:pPr>
              <a:spcBef>
                <a:spcPts val="400"/>
              </a:spcBef>
              <a:defRPr sz="1300">
                <a:solidFill>
                  <a:srgbClr val="333333"/>
                </a:solidFill>
              </a:defRPr>
            </a:pPr>
            <a:r>
              <a:t>RCB must target left-arm seamers and wrist-spinners in the mega auction to create uncomfortable angles for opponents.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100" b="1">
                <a:solidFill>
                  <a:srgbClr val="DA1A32"/>
                </a:solidFill>
              </a:defRPr>
            </a:pPr>
            <a:r>
              <a:t>HISTORICAL WIN-LOSS VOLATILITY</a:t>
            </a:r>
          </a:p>
          <a:p>
            <a:pPr>
              <a:defRPr sz="2200" b="1">
                <a:solidFill>
                  <a:srgbClr val="0F1E36"/>
                </a:solidFill>
              </a:defRPr>
            </a:pPr>
            <a:r>
              <a:t>RCB Season Win Percentage Trend (2008–2016)</a:t>
            </a:r>
          </a:p>
        </p:txBody>
      </p:sp>
      <p:pic>
        <p:nvPicPr>
          <p:cNvPr id="3" name="Picture 2" descr="chart_o12_rcb_win_pct.png"/>
          <p:cNvPicPr>
            <a:picLocks noChangeAspect="1"/>
          </p:cNvPicPr>
          <p:nvPr/>
        </p:nvPicPr>
        <p:blipFill>
          <a:blip r:embed="rId2"/>
          <a:stretch>
            <a:fillRect/>
          </a:stretch>
        </p:blipFill>
        <p:spPr>
          <a:xfrm>
            <a:off x="731520" y="1645920"/>
            <a:ext cx="5486400" cy="2743200"/>
          </a:xfrm>
          <a:prstGeom prst="rect">
            <a:avLst/>
          </a:prstGeom>
        </p:spPr>
      </p:pic>
      <p:sp>
        <p:nvSpPr>
          <p:cNvPr id="4" name="TextBox 3"/>
          <p:cNvSpPr txBox="1"/>
          <p:nvPr/>
        </p:nvSpPr>
        <p:spPr>
          <a:xfrm>
            <a:off x="6492240" y="1645920"/>
            <a:ext cx="4937760" cy="4572000"/>
          </a:xfrm>
          <a:prstGeom prst="rect">
            <a:avLst/>
          </a:prstGeom>
          <a:noFill/>
        </p:spPr>
        <p:txBody>
          <a:bodyPr wrap="square" lIns="0" tIns="0" rIns="0" bIns="0">
            <a:spAutoFit/>
          </a:bodyPr>
          <a:lstStyle/>
          <a:p>
            <a:pPr>
              <a:spcBef>
                <a:spcPts val="0"/>
              </a:spcBef>
              <a:defRPr sz="1300" b="1">
                <a:solidFill>
                  <a:srgbClr val="DA1A32"/>
                </a:solidFill>
              </a:defRPr>
            </a:pPr>
            <a:r>
              <a:t>• Performance Peaks and Historical Floor</a:t>
            </a:r>
          </a:p>
          <a:p>
            <a:pPr>
              <a:spcAft>
                <a:spcPts val="1000"/>
              </a:spcAft>
              <a:defRPr sz="1100">
                <a:solidFill>
                  <a:srgbClr val="333333"/>
                </a:solidFill>
              </a:defRPr>
            </a:pPr>
            <a:r>
              <a:t>RCB achieved its all-time tournament peak win rate of 62.50% in 2011 (10 wins, 6 losses in 16 matches), with secondary peaks at 56.25% in 2009, 2013, and 2016. The historical floor occurred in 2008 at 28.57% (4 wins, 10 losses in 14 matches), followed by 35.71% in 2014 (5 wins, 9 losses).</a:t>
            </a:r>
          </a:p>
          <a:p>
            <a:pPr>
              <a:defRPr b="1" sz="1300">
                <a:solidFill>
                  <a:srgbClr val="DA1A32"/>
                </a:solidFill>
              </a:defRPr>
            </a:pPr>
            <a:r>
              <a:t>• High Volatility Index</a:t>
            </a:r>
          </a:p>
          <a:p>
            <a:pPr>
              <a:spcAft>
                <a:spcPts val="1000"/>
              </a:spcAft>
              <a:defRPr sz="1100">
                <a:solidFill>
                  <a:srgbClr val="333333"/>
                </a:solidFill>
              </a:defRPr>
            </a:pPr>
            <a:r>
              <a:t>RCB exhibits substantial seasonal win-rate swings across the nine seasons, driven by heavy reliance on individual batting spikes rather than consistent multi-phase bowling containment.</a:t>
            </a:r>
          </a:p>
          <a:p>
            <a:pPr>
              <a:defRPr b="1" sz="1300">
                <a:solidFill>
                  <a:srgbClr val="DA1A32"/>
                </a:solidFill>
              </a:defRPr>
            </a:pPr>
            <a:r>
              <a:t>• Performance Benchmark</a:t>
            </a:r>
          </a:p>
          <a:p>
            <a:pPr>
              <a:defRPr sz="1100">
                <a:solidFill>
                  <a:srgbClr val="333333"/>
                </a:solidFill>
              </a:defRPr>
            </a:pPr>
            <a:r>
              <a:t>Sustained tournament qualification requires stabilizing regular-season win conversion above 60% while mitigating the multi-season volatility observed across the franchise's balance sheet.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100" b="1">
                <a:solidFill>
                  <a:srgbClr val="DA1A32"/>
                </a:solidFill>
              </a:defRPr>
            </a:pPr>
            <a:r>
              <a:t>RELIABILITY &amp; FLOOR ANALYSIS</a:t>
            </a:r>
          </a:p>
          <a:p>
            <a:pPr>
              <a:defRPr sz="2200" b="1">
                <a:solidFill>
                  <a:srgbClr val="0F1E36"/>
                </a:solidFill>
              </a:defRPr>
            </a:pPr>
            <a:r>
              <a:t>Top Batsmen Seasonal Spread &amp; Consistency</a:t>
            </a:r>
          </a:p>
        </p:txBody>
      </p:sp>
      <p:pic>
        <p:nvPicPr>
          <p:cNvPr id="3" name="Picture 2" descr="chart_o14_batsmen_consistency.png"/>
          <p:cNvPicPr>
            <a:picLocks noChangeAspect="1"/>
          </p:cNvPicPr>
          <p:nvPr/>
        </p:nvPicPr>
        <p:blipFill>
          <a:blip r:embed="rId2"/>
          <a:stretch>
            <a:fillRect/>
          </a:stretch>
        </p:blipFill>
        <p:spPr>
          <a:xfrm>
            <a:off x="731520" y="1645920"/>
            <a:ext cx="5486400" cy="2743200"/>
          </a:xfrm>
          <a:prstGeom prst="rect">
            <a:avLst/>
          </a:prstGeom>
        </p:spPr>
      </p:pic>
      <p:sp>
        <p:nvSpPr>
          <p:cNvPr id="4" name="TextBox 3"/>
          <p:cNvSpPr txBox="1"/>
          <p:nvPr/>
        </p:nvSpPr>
        <p:spPr>
          <a:xfrm>
            <a:off x="6492240" y="1645920"/>
            <a:ext cx="4937760" cy="4572000"/>
          </a:xfrm>
          <a:prstGeom prst="rect">
            <a:avLst/>
          </a:prstGeom>
          <a:noFill/>
        </p:spPr>
        <p:txBody>
          <a:bodyPr wrap="square" lIns="0" tIns="0" rIns="0" bIns="0">
            <a:spAutoFit/>
          </a:bodyPr>
          <a:lstStyle/>
          <a:p>
            <a:pPr>
              <a:spcBef>
                <a:spcPts val="0"/>
              </a:spcBef>
              <a:defRPr sz="1500" b="1">
                <a:solidFill>
                  <a:srgbClr val="0F1E36"/>
                </a:solidFill>
              </a:defRPr>
            </a:pPr>
            <a:r>
              <a:t>• Ceiling vs Floor Comparison</a:t>
            </a:r>
          </a:p>
          <a:p>
            <a:pPr>
              <a:spcBef>
                <a:spcPts val="400"/>
              </a:spcBef>
              <a:defRPr sz="1300">
                <a:solidFill>
                  <a:srgbClr val="333333"/>
                </a:solidFill>
              </a:defRPr>
            </a:pPr>
            <a:r>
              <a:t>David Warner (587.0 avg, worst season: 410, best: 848) and Ajinkya Rahane demonstrate the lowest variance and highest floor in the tournament.</a:t>
            </a:r>
          </a:p>
          <a:p>
            <a:pPr>
              <a:spcBef>
                <a:spcPts val="1200"/>
              </a:spcBef>
              <a:defRPr sz="1500" b="1">
                <a:solidFill>
                  <a:srgbClr val="0F1E36"/>
                </a:solidFill>
              </a:defRPr>
            </a:pPr>
            <a:r>
              <a:t>• Kohli's Peak Dispersion</a:t>
            </a:r>
          </a:p>
          <a:p>
            <a:pPr>
              <a:spcBef>
                <a:spcPts val="400"/>
              </a:spcBef>
              <a:defRPr sz="1300">
                <a:solidFill>
                  <a:srgbClr val="333333"/>
                </a:solidFill>
              </a:defRPr>
            </a:pPr>
            <a:r>
              <a:t>Within the analyzed dataset, Virat Kohli's 2016 campaign generated the highest individual seasonal tally (969 runs), contrasted with a floor of 359 runs in 2014.</a:t>
            </a:r>
          </a:p>
          <a:p>
            <a:pPr>
              <a:spcBef>
                <a:spcPts val="1200"/>
              </a:spcBef>
              <a:defRPr sz="1500" b="1">
                <a:solidFill>
                  <a:srgbClr val="0F1E36"/>
                </a:solidFill>
              </a:defRPr>
            </a:pPr>
            <a:r>
              <a:t>• Squad Construction Rule</a:t>
            </a:r>
          </a:p>
          <a:p>
            <a:pPr>
              <a:spcBef>
                <a:spcPts val="400"/>
              </a:spcBef>
              <a:defRPr sz="1300">
                <a:solidFill>
                  <a:srgbClr val="333333"/>
                </a:solidFill>
              </a:defRPr>
            </a:pPr>
            <a:r>
              <a:t>Pairing volatile power-hitters with high-floor anchors ensures stability during top-order collapses.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100" b="1">
                <a:solidFill>
                  <a:srgbClr val="DA1A32"/>
                </a:solidFill>
              </a:defRPr>
            </a:pPr>
            <a:r>
              <a:t>TOSS &amp; VENUE DYNAMICS</a:t>
            </a:r>
          </a:p>
          <a:p>
            <a:pPr>
              <a:defRPr sz="2200" b="1">
                <a:solidFill>
                  <a:srgbClr val="0F1E36"/>
                </a:solidFill>
              </a:defRPr>
            </a:pPr>
            <a:r>
              <a:t>Chasing vs Defending Win % by Stadium</a:t>
            </a:r>
          </a:p>
        </p:txBody>
      </p:sp>
      <p:pic>
        <p:nvPicPr>
          <p:cNvPr id="3" name="Picture 2" descr="chart_s1_toss_impact.png"/>
          <p:cNvPicPr>
            <a:picLocks noChangeAspect="1"/>
          </p:cNvPicPr>
          <p:nvPr/>
        </p:nvPicPr>
        <p:blipFill>
          <a:blip r:embed="rId2"/>
          <a:stretch>
            <a:fillRect/>
          </a:stretch>
        </p:blipFill>
        <p:spPr>
          <a:xfrm>
            <a:off x="731520" y="1645920"/>
            <a:ext cx="5486400" cy="2743200"/>
          </a:xfrm>
          <a:prstGeom prst="rect">
            <a:avLst/>
          </a:prstGeom>
        </p:spPr>
      </p:pic>
      <p:sp>
        <p:nvSpPr>
          <p:cNvPr id="4" name="TextBox 3"/>
          <p:cNvSpPr txBox="1"/>
          <p:nvPr/>
        </p:nvSpPr>
        <p:spPr>
          <a:xfrm>
            <a:off x="6492240" y="1645920"/>
            <a:ext cx="4937760" cy="4572000"/>
          </a:xfrm>
          <a:prstGeom prst="rect">
            <a:avLst/>
          </a:prstGeom>
          <a:noFill/>
        </p:spPr>
        <p:txBody>
          <a:bodyPr wrap="square" lIns="0" tIns="0" rIns="0" bIns="0">
            <a:spAutoFit/>
          </a:bodyPr>
          <a:lstStyle/>
          <a:p>
            <a:pPr>
              <a:spcBef>
                <a:spcPts val="0"/>
              </a:spcBef>
              <a:defRPr sz="1300" b="1">
                <a:solidFill>
                  <a:srgbClr val="DA1A32"/>
                </a:solidFill>
              </a:defRPr>
            </a:pPr>
            <a:r>
              <a:t>• Chasing Dominance at Dew Grounds</a:t>
            </a:r>
          </a:p>
          <a:p>
            <a:pPr>
              <a:spcAft>
                <a:spcPts val="1000"/>
              </a:spcAft>
              <a:defRPr sz="1100">
                <a:solidFill>
                  <a:srgbClr val="333333"/>
                </a:solidFill>
              </a:defRPr>
            </a:pPr>
            <a:r>
              <a:t>Chasing confers massive advantages at Sawai Mansingh (69.70%), Rajiv Gandhi Uppal (63.41%), and Eden Gardens (59.26%).</a:t>
            </a:r>
          </a:p>
          <a:p>
            <a:pPr>
              <a:defRPr b="1" sz="1300">
                <a:solidFill>
                  <a:srgbClr val="DA1A32"/>
                </a:solidFill>
              </a:defRPr>
            </a:pPr>
            <a:r>
              <a:t>• Defending Fortress at Chepauk</a:t>
            </a:r>
          </a:p>
          <a:p>
            <a:pPr>
              <a:spcAft>
                <a:spcPts val="1000"/>
              </a:spcAft>
              <a:defRPr sz="1100">
                <a:solidFill>
                  <a:srgbClr val="333333"/>
                </a:solidFill>
              </a:defRPr>
            </a:pPr>
            <a:r>
              <a:t>Chepauk is the stark exception, where batting first wins 64.58% of games as the dry clay pitch slows down drastically.</a:t>
            </a:r>
          </a:p>
          <a:p>
            <a:pPr>
              <a:defRPr b="1" sz="1300">
                <a:solidFill>
                  <a:srgbClr val="DA1A32"/>
                </a:solidFill>
              </a:defRPr>
            </a:pPr>
            <a:r>
              <a:t>• Venue-Conditional Toss Strategy</a:t>
            </a:r>
          </a:p>
          <a:p>
            <a:pPr>
              <a:defRPr sz="1100">
                <a:solidFill>
                  <a:srgbClr val="333333"/>
                </a:solidFill>
              </a:defRPr>
            </a:pPr>
            <a:r>
              <a:t>Chasing win rates differ substantially by ground: while dew-heavy venues strongly reward bowling first, Chepauk favors batting first (64.58% defending). Toss strategy must be conditionally tailored to individual venue conditions rather than governed by a blanket league-wide assumption.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100" b="1">
                <a:solidFill>
                  <a:srgbClr val="DA1A32"/>
                </a:solidFill>
              </a:defRPr>
            </a:pPr>
            <a:r>
              <a:t>DUAL-THREAT ASSET VALUATION</a:t>
            </a:r>
          </a:p>
          <a:p>
            <a:pPr>
              <a:defRPr sz="2200" b="1">
                <a:solidFill>
                  <a:srgbClr val="0F1E36"/>
                </a:solidFill>
              </a:defRPr>
            </a:pPr>
            <a:r>
              <a:t>All-Rounder 2D Efficiency Matrix</a:t>
            </a:r>
          </a:p>
        </p:txBody>
      </p:sp>
      <p:pic>
        <p:nvPicPr>
          <p:cNvPr id="3" name="Picture 2" descr="chart_s4_allrounders_quadrant.png"/>
          <p:cNvPicPr>
            <a:picLocks noChangeAspect="1"/>
          </p:cNvPicPr>
          <p:nvPr/>
        </p:nvPicPr>
        <p:blipFill>
          <a:blip r:embed="rId2"/>
          <a:stretch>
            <a:fillRect/>
          </a:stretch>
        </p:blipFill>
        <p:spPr>
          <a:xfrm>
            <a:off x="731520" y="1645920"/>
            <a:ext cx="5486400" cy="3291840"/>
          </a:xfrm>
          <a:prstGeom prst="rect">
            <a:avLst/>
          </a:prstGeom>
        </p:spPr>
      </p:pic>
      <p:sp>
        <p:nvSpPr>
          <p:cNvPr id="4" name="TextBox 3"/>
          <p:cNvSpPr txBox="1"/>
          <p:nvPr/>
        </p:nvSpPr>
        <p:spPr>
          <a:xfrm>
            <a:off x="6492240" y="1645920"/>
            <a:ext cx="4937760" cy="4572000"/>
          </a:xfrm>
          <a:prstGeom prst="rect">
            <a:avLst/>
          </a:prstGeom>
          <a:noFill/>
        </p:spPr>
        <p:txBody>
          <a:bodyPr wrap="square" lIns="0" tIns="0" rIns="0" bIns="0">
            <a:spAutoFit/>
          </a:bodyPr>
          <a:lstStyle/>
          <a:p>
            <a:pPr>
              <a:spcBef>
                <a:spcPts val="0"/>
              </a:spcBef>
              <a:defRPr sz="1300" b="1">
                <a:solidFill>
                  <a:srgbClr val="DA1A32"/>
                </a:solidFill>
              </a:defRPr>
            </a:pPr>
            <a:r>
              <a:t>• Project-Defined Versatility Index</a:t>
            </a:r>
          </a:p>
          <a:p>
            <a:pPr>
              <a:spcAft>
                <a:spcPts val="800"/>
              </a:spcAft>
              <a:defRPr sz="1050">
                <a:solidFill>
                  <a:srgbClr val="333333"/>
                </a:solidFill>
              </a:defRPr>
            </a:pPr>
            <a:r>
              <a:t>Versatility is evaluated via the project-defined analytical heuristic (total_runs * total_wickets) / 100 (min 500 runs, min 20 wickets). This is a custom analytical metric designed to evaluate multi-discipline volume, not an official cricket statistic.</a:t>
            </a:r>
          </a:p>
          <a:p>
            <a:pPr>
              <a:defRPr b="1" sz="1300">
                <a:solidFill>
                  <a:srgbClr val="DA1A32"/>
                </a:solidFill>
              </a:defRPr>
            </a:pPr>
            <a:r>
              <a:t>• Top 10 All-Rounder Profiles</a:t>
            </a:r>
          </a:p>
          <a:p>
            <a:pPr>
              <a:spcAft>
                <a:spcPts val="800"/>
              </a:spcAft>
              <a:defRPr sz="1000">
                <a:solidFill>
                  <a:srgbClr val="333333"/>
                </a:solidFill>
              </a:defRPr>
            </a:pPr>
            <a:r>
              <a:t>Top 10 all-rounders: (1) SR Watson (2067.93 index | 2,553 runs, 81 wkts), (2) JH Kallis (1577.55 | 2,427 runs, 65 wkts), (3) DJ Bravo (1539.64 | 1,262 runs, 122 wkts), (4) RA Jadeja (1211.98 | 1,574 runs, 77 wkts), (5) YK Pathan (1111.60 | 2,779 runs, 40 wkts), (6) KA Pollard (1097.04 | 1,959 runs, 56 wkts), (7) SK Raina (985.44 | 4,106 runs, 24 wkts), (8) Harbhajan Singh (931.77 | 783 runs, 119 wkts), (9) IK Pathan (918.40 | 1,148 runs, 80 wkts), and (10) JA Morkel (828.75 | 975 runs, 85 wkts).</a:t>
            </a:r>
          </a:p>
          <a:p>
            <a:pPr>
              <a:defRPr b="1" sz="1300">
                <a:solidFill>
                  <a:srgbClr val="DA1A32"/>
                </a:solidFill>
              </a:defRPr>
            </a:pPr>
            <a:r>
              <a:t>• Squad Construction Priority</a:t>
            </a:r>
          </a:p>
          <a:p>
            <a:pPr>
              <a:defRPr sz="1050">
                <a:solidFill>
                  <a:srgbClr val="333333"/>
                </a:solidFill>
              </a:defRPr>
            </a:pPr>
            <a:r>
              <a:t>High-leverage dual-threat contributors provide vital batting depth and bowling overs, balancing high-order stroke play with bowling flexibility to protect RCB's lower-middle order.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spcAft>
                <a:spcPts val="200"/>
              </a:spcAft>
              <a:defRPr b="1" sz="1100">
                <a:solidFill>
                  <a:srgbClr val="DA1A32"/>
                </a:solidFill>
              </a:defRPr>
            </a:pPr>
            <a:r>
              <a:t>INDIVIDUAL MATCH IMPACT &amp; TEAM PILLARS (S5)</a:t>
            </a:r>
          </a:p>
          <a:p>
            <a:pPr>
              <a:defRPr b="1" sz="1800">
                <a:solidFill>
                  <a:srgbClr val="0F1E36"/>
                </a:solidFill>
              </a:defRPr>
            </a:pPr>
            <a:r>
              <a:t>Man of the Match Awards &amp; RCB Win-Rate Consistency</a:t>
            </a:r>
          </a:p>
        </p:txBody>
      </p:sp>
      <p:sp>
        <p:nvSpPr>
          <p:cNvPr id="3" name="TextBox 2"/>
          <p:cNvSpPr txBox="1"/>
          <p:nvPr/>
        </p:nvSpPr>
        <p:spPr>
          <a:xfrm>
            <a:off x="731520" y="1463040"/>
            <a:ext cx="4754880" cy="365760"/>
          </a:xfrm>
          <a:prstGeom prst="rect">
            <a:avLst/>
          </a:prstGeom>
          <a:noFill/>
        </p:spPr>
        <p:txBody>
          <a:bodyPr wrap="none">
            <a:spAutoFit/>
          </a:bodyPr>
          <a:lstStyle/>
          <a:p>
            <a:pPr>
              <a:defRPr b="1" sz="1100">
                <a:solidFill>
                  <a:srgbClr val="DA1A32"/>
                </a:solidFill>
              </a:defRPr>
            </a:pPr>
            <a:r>
              <a:t>Analysis 1: League-Wide Match-Winners (Top 10 MoMs)</a:t>
            </a:r>
          </a:p>
        </p:txBody>
      </p:sp>
      <p:graphicFrame>
        <p:nvGraphicFramePr>
          <p:cNvPr id="4" name="Table 3"/>
          <p:cNvGraphicFramePr>
            <a:graphicFrameLocks noGrp="1"/>
          </p:cNvGraphicFramePr>
          <p:nvPr/>
        </p:nvGraphicFramePr>
        <p:xfrm>
          <a:off x="731520" y="1828800"/>
          <a:ext cx="4754880" cy="2926080"/>
        </p:xfrm>
        <a:graphic>
          <a:graphicData uri="http://schemas.openxmlformats.org/drawingml/2006/table">
            <a:tbl>
              <a:tblPr firstRow="1" bandRow="1">
                <a:tableStyleId>{5C22544A-7EE6-4342-B048-85BDC9FD1C3A}</a:tableStyleId>
              </a:tblPr>
              <a:tblGrid>
                <a:gridCol w="2011680"/>
                <a:gridCol w="1371600"/>
                <a:gridCol w="1371600"/>
              </a:tblGrid>
              <a:tr h="266007">
                <a:tc>
                  <a:txBody>
                    <a:bodyPr wrap="square" lIns="45720" rIns="45720" tIns="36576" bIns="36576"/>
                    <a:lstStyle/>
                    <a:p>
                      <a:pPr algn="ctr">
                        <a:defRPr b="1" sz="900">
                          <a:solidFill>
                            <a:srgbClr val="FFFFFF"/>
                          </a:solidFill>
                        </a:defRPr>
                      </a:pPr>
                      <a:r>
                        <a:t>Player_Name</a:t>
                      </a:r>
                    </a:p>
                  </a:txBody>
                  <a:tcPr>
                    <a:solidFill>
                      <a:srgbClr val="0F1E36"/>
                    </a:solidFill>
                  </a:tcPr>
                </a:tc>
                <a:tc>
                  <a:txBody>
                    <a:bodyPr wrap="square" lIns="45720" rIns="45720" tIns="36576" bIns="36576"/>
                    <a:lstStyle/>
                    <a:p>
                      <a:pPr algn="ctr">
                        <a:defRPr b="1" sz="900">
                          <a:solidFill>
                            <a:srgbClr val="FFFFFF"/>
                          </a:solidFill>
                        </a:defRPr>
                      </a:pPr>
                      <a:r>
                        <a:t>mom_awards</a:t>
                      </a:r>
                    </a:p>
                  </a:txBody>
                  <a:tcPr>
                    <a:solidFill>
                      <a:srgbClr val="0F1E36"/>
                    </a:solidFill>
                  </a:tcPr>
                </a:tc>
                <a:tc>
                  <a:txBody>
                    <a:bodyPr wrap="square" lIns="45720" rIns="45720" tIns="36576" bIns="36576"/>
                    <a:lstStyle/>
                    <a:p>
                      <a:pPr algn="ctr">
                        <a:defRPr b="1" sz="900">
                          <a:solidFill>
                            <a:srgbClr val="FFFFFF"/>
                          </a:solidFill>
                        </a:defRPr>
                      </a:pPr>
                      <a:r>
                        <a:t>seasons_awarded</a:t>
                      </a:r>
                    </a:p>
                  </a:txBody>
                  <a:tcPr>
                    <a:solidFill>
                      <a:srgbClr val="0F1E36"/>
                    </a:solidFill>
                  </a:tcPr>
                </a:tc>
              </a:tr>
              <a:tr h="266007">
                <a:tc>
                  <a:txBody>
                    <a:bodyPr wrap="square" lIns="45720" rIns="45720" tIns="27432" bIns="27432"/>
                    <a:lstStyle/>
                    <a:p>
                      <a:pPr algn="l">
                        <a:defRPr sz="850">
                          <a:solidFill>
                            <a:srgbClr val="333333"/>
                          </a:solidFill>
                        </a:defRPr>
                      </a:pPr>
                      <a:r>
                        <a:t>CH Gayle</a:t>
                      </a:r>
                    </a:p>
                  </a:txBody>
                  <a:tcPr>
                    <a:solidFill>
                      <a:srgbClr val="FFFFFF"/>
                    </a:solidFill>
                  </a:tcPr>
                </a:tc>
                <a:tc>
                  <a:txBody>
                    <a:bodyPr wrap="square" lIns="45720" rIns="45720" tIns="27432" bIns="27432"/>
                    <a:lstStyle/>
                    <a:p>
                      <a:pPr algn="ctr">
                        <a:defRPr sz="850">
                          <a:solidFill>
                            <a:srgbClr val="333333"/>
                          </a:solidFill>
                        </a:defRPr>
                      </a:pPr>
                      <a:r>
                        <a:t>17</a:t>
                      </a:r>
                    </a:p>
                  </a:txBody>
                  <a:tcPr>
                    <a:solidFill>
                      <a:srgbClr val="FFFFFF"/>
                    </a:solidFill>
                  </a:tcPr>
                </a:tc>
                <a:tc>
                  <a:txBody>
                    <a:bodyPr wrap="square" lIns="45720" rIns="45720" tIns="27432" bIns="27432"/>
                    <a:lstStyle/>
                    <a:p>
                      <a:pPr algn="ctr">
                        <a:defRPr sz="850">
                          <a:solidFill>
                            <a:srgbClr val="333333"/>
                          </a:solidFill>
                        </a:defRPr>
                      </a:pPr>
                      <a:r>
                        <a:t>5</a:t>
                      </a:r>
                    </a:p>
                  </a:txBody>
                  <a:tcPr>
                    <a:solidFill>
                      <a:srgbClr val="FFFFFF"/>
                    </a:solidFill>
                  </a:tcPr>
                </a:tc>
              </a:tr>
              <a:tr h="266007">
                <a:tc>
                  <a:txBody>
                    <a:bodyPr wrap="square" lIns="45720" rIns="45720" tIns="27432" bIns="27432"/>
                    <a:lstStyle/>
                    <a:p>
                      <a:pPr algn="l">
                        <a:defRPr sz="850">
                          <a:solidFill>
                            <a:srgbClr val="333333"/>
                          </a:solidFill>
                        </a:defRPr>
                      </a:pPr>
                      <a:r>
                        <a:t>YK Pathan</a:t>
                      </a:r>
                    </a:p>
                  </a:txBody>
                  <a:tcPr>
                    <a:solidFill>
                      <a:srgbClr val="F4F5F7"/>
                    </a:solidFill>
                  </a:tcPr>
                </a:tc>
                <a:tc>
                  <a:txBody>
                    <a:bodyPr wrap="square" lIns="45720" rIns="45720" tIns="27432" bIns="27432"/>
                    <a:lstStyle/>
                    <a:p>
                      <a:pPr algn="ctr">
                        <a:defRPr sz="850">
                          <a:solidFill>
                            <a:srgbClr val="333333"/>
                          </a:solidFill>
                        </a:defRPr>
                      </a:pPr>
                      <a:r>
                        <a:t>16</a:t>
                      </a:r>
                    </a:p>
                  </a:txBody>
                  <a:tcPr>
                    <a:solidFill>
                      <a:srgbClr val="F4F5F7"/>
                    </a:solidFill>
                  </a:tcPr>
                </a:tc>
                <a:tc>
                  <a:txBody>
                    <a:bodyPr wrap="square" lIns="45720" rIns="45720" tIns="27432" bIns="27432"/>
                    <a:lstStyle/>
                    <a:p>
                      <a:pPr algn="ctr">
                        <a:defRPr sz="850">
                          <a:solidFill>
                            <a:srgbClr val="333333"/>
                          </a:solidFill>
                        </a:defRPr>
                      </a:pPr>
                      <a:r>
                        <a:t>8</a:t>
                      </a:r>
                    </a:p>
                  </a:txBody>
                  <a:tcPr>
                    <a:solidFill>
                      <a:srgbClr val="F4F5F7"/>
                    </a:solidFill>
                  </a:tcPr>
                </a:tc>
              </a:tr>
              <a:tr h="266007">
                <a:tc>
                  <a:txBody>
                    <a:bodyPr wrap="square" lIns="45720" rIns="45720" tIns="27432" bIns="27432"/>
                    <a:lstStyle/>
                    <a:p>
                      <a:pPr algn="l">
                        <a:defRPr sz="850">
                          <a:solidFill>
                            <a:srgbClr val="333333"/>
                          </a:solidFill>
                        </a:defRPr>
                      </a:pPr>
                      <a:r>
                        <a:t>AB de Villiers</a:t>
                      </a:r>
                    </a:p>
                  </a:txBody>
                  <a:tcPr>
                    <a:solidFill>
                      <a:srgbClr val="FFFFFF"/>
                    </a:solidFill>
                  </a:tcPr>
                </a:tc>
                <a:tc>
                  <a:txBody>
                    <a:bodyPr wrap="square" lIns="45720" rIns="45720" tIns="27432" bIns="27432"/>
                    <a:lstStyle/>
                    <a:p>
                      <a:pPr algn="ctr">
                        <a:defRPr sz="850">
                          <a:solidFill>
                            <a:srgbClr val="333333"/>
                          </a:solidFill>
                        </a:defRPr>
                      </a:pPr>
                      <a:r>
                        <a:t>15</a:t>
                      </a:r>
                    </a:p>
                  </a:txBody>
                  <a:tcPr>
                    <a:solidFill>
                      <a:srgbClr val="FFFFFF"/>
                    </a:solidFill>
                  </a:tcPr>
                </a:tc>
                <a:tc>
                  <a:txBody>
                    <a:bodyPr wrap="square" lIns="45720" rIns="45720" tIns="27432" bIns="27432"/>
                    <a:lstStyle/>
                    <a:p>
                      <a:pPr algn="ctr">
                        <a:defRPr sz="850">
                          <a:solidFill>
                            <a:srgbClr val="333333"/>
                          </a:solidFill>
                        </a:defRPr>
                      </a:pPr>
                      <a:r>
                        <a:t>7</a:t>
                      </a:r>
                    </a:p>
                  </a:txBody>
                  <a:tcPr>
                    <a:solidFill>
                      <a:srgbClr val="FFFFFF"/>
                    </a:solidFill>
                  </a:tcPr>
                </a:tc>
              </a:tr>
              <a:tr h="266007">
                <a:tc>
                  <a:txBody>
                    <a:bodyPr wrap="square" lIns="45720" rIns="45720" tIns="27432" bIns="27432"/>
                    <a:lstStyle/>
                    <a:p>
                      <a:pPr algn="l">
                        <a:defRPr sz="850">
                          <a:solidFill>
                            <a:srgbClr val="333333"/>
                          </a:solidFill>
                        </a:defRPr>
                      </a:pPr>
                      <a:r>
                        <a:t>DA Warner</a:t>
                      </a:r>
                    </a:p>
                  </a:txBody>
                  <a:tcPr>
                    <a:solidFill>
                      <a:srgbClr val="F4F5F7"/>
                    </a:solidFill>
                  </a:tcPr>
                </a:tc>
                <a:tc>
                  <a:txBody>
                    <a:bodyPr wrap="square" lIns="45720" rIns="45720" tIns="27432" bIns="27432"/>
                    <a:lstStyle/>
                    <a:p>
                      <a:pPr algn="ctr">
                        <a:defRPr sz="850">
                          <a:solidFill>
                            <a:srgbClr val="333333"/>
                          </a:solidFill>
                        </a:defRPr>
                      </a:pPr>
                      <a:r>
                        <a:t>14</a:t>
                      </a:r>
                    </a:p>
                  </a:txBody>
                  <a:tcPr>
                    <a:solidFill>
                      <a:srgbClr val="F4F5F7"/>
                    </a:solidFill>
                  </a:tcPr>
                </a:tc>
                <a:tc>
                  <a:txBody>
                    <a:bodyPr wrap="square" lIns="45720" rIns="45720" tIns="27432" bIns="27432"/>
                    <a:lstStyle/>
                    <a:p>
                      <a:pPr algn="ctr">
                        <a:defRPr sz="850">
                          <a:solidFill>
                            <a:srgbClr val="333333"/>
                          </a:solidFill>
                        </a:defRPr>
                      </a:pPr>
                      <a:r>
                        <a:t>7</a:t>
                      </a:r>
                    </a:p>
                  </a:txBody>
                  <a:tcPr>
                    <a:solidFill>
                      <a:srgbClr val="F4F5F7"/>
                    </a:solidFill>
                  </a:tcPr>
                </a:tc>
              </a:tr>
              <a:tr h="266007">
                <a:tc>
                  <a:txBody>
                    <a:bodyPr wrap="square" lIns="45720" rIns="45720" tIns="27432" bIns="27432"/>
                    <a:lstStyle/>
                    <a:p>
                      <a:pPr algn="l">
                        <a:defRPr sz="850">
                          <a:solidFill>
                            <a:srgbClr val="333333"/>
                          </a:solidFill>
                        </a:defRPr>
                      </a:pPr>
                      <a:r>
                        <a:t>SK Raina</a:t>
                      </a:r>
                    </a:p>
                  </a:txBody>
                  <a:tcPr>
                    <a:solidFill>
                      <a:srgbClr val="FFFFFF"/>
                    </a:solidFill>
                  </a:tcPr>
                </a:tc>
                <a:tc>
                  <a:txBody>
                    <a:bodyPr wrap="square" lIns="45720" rIns="45720" tIns="27432" bIns="27432"/>
                    <a:lstStyle/>
                    <a:p>
                      <a:pPr algn="ctr">
                        <a:defRPr sz="850">
                          <a:solidFill>
                            <a:srgbClr val="333333"/>
                          </a:solidFill>
                        </a:defRPr>
                      </a:pPr>
                      <a:r>
                        <a:t>13</a:t>
                      </a:r>
                    </a:p>
                  </a:txBody>
                  <a:tcPr>
                    <a:solidFill>
                      <a:srgbClr val="FFFFFF"/>
                    </a:solidFill>
                  </a:tcPr>
                </a:tc>
                <a:tc>
                  <a:txBody>
                    <a:bodyPr wrap="square" lIns="45720" rIns="45720" tIns="27432" bIns="27432"/>
                    <a:lstStyle/>
                    <a:p>
                      <a:pPr algn="ctr">
                        <a:defRPr sz="850">
                          <a:solidFill>
                            <a:srgbClr val="333333"/>
                          </a:solidFill>
                        </a:defRPr>
                      </a:pPr>
                      <a:r>
                        <a:t>9</a:t>
                      </a:r>
                    </a:p>
                  </a:txBody>
                  <a:tcPr>
                    <a:solidFill>
                      <a:srgbClr val="FFFFFF"/>
                    </a:solidFill>
                  </a:tcPr>
                </a:tc>
              </a:tr>
              <a:tr h="266007">
                <a:tc>
                  <a:txBody>
                    <a:bodyPr wrap="square" lIns="45720" rIns="45720" tIns="27432" bIns="27432"/>
                    <a:lstStyle/>
                    <a:p>
                      <a:pPr algn="l">
                        <a:defRPr sz="850">
                          <a:solidFill>
                            <a:srgbClr val="333333"/>
                          </a:solidFill>
                        </a:defRPr>
                      </a:pPr>
                      <a:r>
                        <a:t>RG Sharma</a:t>
                      </a:r>
                    </a:p>
                  </a:txBody>
                  <a:tcPr>
                    <a:solidFill>
                      <a:srgbClr val="F4F5F7"/>
                    </a:solidFill>
                  </a:tcPr>
                </a:tc>
                <a:tc>
                  <a:txBody>
                    <a:bodyPr wrap="square" lIns="45720" rIns="45720" tIns="27432" bIns="27432"/>
                    <a:lstStyle/>
                    <a:p>
                      <a:pPr algn="ctr">
                        <a:defRPr sz="850">
                          <a:solidFill>
                            <a:srgbClr val="333333"/>
                          </a:solidFill>
                        </a:defRPr>
                      </a:pPr>
                      <a:r>
                        <a:t>13</a:t>
                      </a:r>
                    </a:p>
                  </a:txBody>
                  <a:tcPr>
                    <a:solidFill>
                      <a:srgbClr val="F4F5F7"/>
                    </a:solidFill>
                  </a:tcPr>
                </a:tc>
                <a:tc>
                  <a:txBody>
                    <a:bodyPr wrap="square" lIns="45720" rIns="45720" tIns="27432" bIns="27432"/>
                    <a:lstStyle/>
                    <a:p>
                      <a:pPr algn="ctr">
                        <a:defRPr sz="850">
                          <a:solidFill>
                            <a:srgbClr val="333333"/>
                          </a:solidFill>
                        </a:defRPr>
                      </a:pPr>
                      <a:r>
                        <a:t>7</a:t>
                      </a:r>
                    </a:p>
                  </a:txBody>
                  <a:tcPr>
                    <a:solidFill>
                      <a:srgbClr val="F4F5F7"/>
                    </a:solidFill>
                  </a:tcPr>
                </a:tc>
              </a:tr>
              <a:tr h="266007">
                <a:tc>
                  <a:txBody>
                    <a:bodyPr wrap="square" lIns="45720" rIns="45720" tIns="27432" bIns="27432"/>
                    <a:lstStyle/>
                    <a:p>
                      <a:pPr algn="l">
                        <a:defRPr sz="850">
                          <a:solidFill>
                            <a:srgbClr val="333333"/>
                          </a:solidFill>
                        </a:defRPr>
                      </a:pPr>
                      <a:r>
                        <a:t>MEK Hussey</a:t>
                      </a:r>
                    </a:p>
                  </a:txBody>
                  <a:tcPr>
                    <a:solidFill>
                      <a:srgbClr val="FFFFFF"/>
                    </a:solidFill>
                  </a:tcPr>
                </a:tc>
                <a:tc>
                  <a:txBody>
                    <a:bodyPr wrap="square" lIns="45720" rIns="45720" tIns="27432" bIns="27432"/>
                    <a:lstStyle/>
                    <a:p>
                      <a:pPr algn="ctr">
                        <a:defRPr sz="850">
                          <a:solidFill>
                            <a:srgbClr val="333333"/>
                          </a:solidFill>
                        </a:defRPr>
                      </a:pPr>
                      <a:r>
                        <a:t>12</a:t>
                      </a:r>
                    </a:p>
                  </a:txBody>
                  <a:tcPr>
                    <a:solidFill>
                      <a:srgbClr val="FFFFFF"/>
                    </a:solidFill>
                  </a:tcPr>
                </a:tc>
                <a:tc>
                  <a:txBody>
                    <a:bodyPr wrap="square" lIns="45720" rIns="45720" tIns="27432" bIns="27432"/>
                    <a:lstStyle/>
                    <a:p>
                      <a:pPr algn="ctr">
                        <a:defRPr sz="850">
                          <a:solidFill>
                            <a:srgbClr val="333333"/>
                          </a:solidFill>
                        </a:defRPr>
                      </a:pPr>
                      <a:r>
                        <a:t>5</a:t>
                      </a:r>
                    </a:p>
                  </a:txBody>
                  <a:tcPr>
                    <a:solidFill>
                      <a:srgbClr val="FFFFFF"/>
                    </a:solidFill>
                  </a:tcPr>
                </a:tc>
              </a:tr>
              <a:tr h="266007">
                <a:tc>
                  <a:txBody>
                    <a:bodyPr wrap="square" lIns="45720" rIns="45720" tIns="27432" bIns="27432"/>
                    <a:lstStyle/>
                    <a:p>
                      <a:pPr algn="l">
                        <a:defRPr sz="850">
                          <a:solidFill>
                            <a:srgbClr val="333333"/>
                          </a:solidFill>
                        </a:defRPr>
                      </a:pPr>
                      <a:r>
                        <a:t>MS Dhoni</a:t>
                      </a:r>
                    </a:p>
                  </a:txBody>
                  <a:tcPr>
                    <a:solidFill>
                      <a:srgbClr val="F4F5F7"/>
                    </a:solidFill>
                  </a:tcPr>
                </a:tc>
                <a:tc>
                  <a:txBody>
                    <a:bodyPr wrap="square" lIns="45720" rIns="45720" tIns="27432" bIns="27432"/>
                    <a:lstStyle/>
                    <a:p>
                      <a:pPr algn="ctr">
                        <a:defRPr sz="850">
                          <a:solidFill>
                            <a:srgbClr val="333333"/>
                          </a:solidFill>
                        </a:defRPr>
                      </a:pPr>
                      <a:r>
                        <a:t>12</a:t>
                      </a:r>
                    </a:p>
                  </a:txBody>
                  <a:tcPr>
                    <a:solidFill>
                      <a:srgbClr val="F4F5F7"/>
                    </a:solidFill>
                  </a:tcPr>
                </a:tc>
                <a:tc>
                  <a:txBody>
                    <a:bodyPr wrap="square" lIns="45720" rIns="45720" tIns="27432" bIns="27432"/>
                    <a:lstStyle/>
                    <a:p>
                      <a:pPr algn="ctr">
                        <a:defRPr sz="850">
                          <a:solidFill>
                            <a:srgbClr val="333333"/>
                          </a:solidFill>
                        </a:defRPr>
                      </a:pPr>
                      <a:r>
                        <a:t>8</a:t>
                      </a:r>
                    </a:p>
                  </a:txBody>
                  <a:tcPr>
                    <a:solidFill>
                      <a:srgbClr val="F4F5F7"/>
                    </a:solidFill>
                  </a:tcPr>
                </a:tc>
              </a:tr>
              <a:tr h="266007">
                <a:tc>
                  <a:txBody>
                    <a:bodyPr wrap="square" lIns="45720" rIns="45720" tIns="27432" bIns="27432"/>
                    <a:lstStyle/>
                    <a:p>
                      <a:pPr algn="l">
                        <a:defRPr sz="850">
                          <a:solidFill>
                            <a:srgbClr val="333333"/>
                          </a:solidFill>
                        </a:defRPr>
                      </a:pPr>
                      <a:r>
                        <a:t>G Gambhir</a:t>
                      </a:r>
                    </a:p>
                  </a:txBody>
                  <a:tcPr>
                    <a:solidFill>
                      <a:srgbClr val="FFFFFF"/>
                    </a:solidFill>
                  </a:tcPr>
                </a:tc>
                <a:tc>
                  <a:txBody>
                    <a:bodyPr wrap="square" lIns="45720" rIns="45720" tIns="27432" bIns="27432"/>
                    <a:lstStyle/>
                    <a:p>
                      <a:pPr algn="ctr">
                        <a:defRPr sz="850">
                          <a:solidFill>
                            <a:srgbClr val="333333"/>
                          </a:solidFill>
                        </a:defRPr>
                      </a:pPr>
                      <a:r>
                        <a:t>12</a:t>
                      </a:r>
                    </a:p>
                  </a:txBody>
                  <a:tcPr>
                    <a:solidFill>
                      <a:srgbClr val="FFFFFF"/>
                    </a:solidFill>
                  </a:tcPr>
                </a:tc>
                <a:tc>
                  <a:txBody>
                    <a:bodyPr wrap="square" lIns="45720" rIns="45720" tIns="27432" bIns="27432"/>
                    <a:lstStyle/>
                    <a:p>
                      <a:pPr algn="ctr">
                        <a:defRPr sz="850">
                          <a:solidFill>
                            <a:srgbClr val="333333"/>
                          </a:solidFill>
                        </a:defRPr>
                      </a:pPr>
                      <a:r>
                        <a:t>7</a:t>
                      </a:r>
                    </a:p>
                  </a:txBody>
                  <a:tcPr>
                    <a:solidFill>
                      <a:srgbClr val="FFFFFF"/>
                    </a:solidFill>
                  </a:tcPr>
                </a:tc>
              </a:tr>
              <a:tr h="266010">
                <a:tc>
                  <a:txBody>
                    <a:bodyPr wrap="square" lIns="45720" rIns="45720" tIns="27432" bIns="27432"/>
                    <a:lstStyle/>
                    <a:p>
                      <a:pPr algn="l">
                        <a:defRPr sz="850">
                          <a:solidFill>
                            <a:srgbClr val="333333"/>
                          </a:solidFill>
                        </a:defRPr>
                      </a:pPr>
                      <a:r>
                        <a:t>AM Rahane</a:t>
                      </a:r>
                    </a:p>
                  </a:txBody>
                  <a:tcPr>
                    <a:solidFill>
                      <a:srgbClr val="F4F5F7"/>
                    </a:solidFill>
                  </a:tcPr>
                </a:tc>
                <a:tc>
                  <a:txBody>
                    <a:bodyPr wrap="square" lIns="45720" rIns="45720" tIns="27432" bIns="27432"/>
                    <a:lstStyle/>
                    <a:p>
                      <a:pPr algn="ctr">
                        <a:defRPr sz="850">
                          <a:solidFill>
                            <a:srgbClr val="333333"/>
                          </a:solidFill>
                        </a:defRPr>
                      </a:pPr>
                      <a:r>
                        <a:t>12</a:t>
                      </a:r>
                    </a:p>
                  </a:txBody>
                  <a:tcPr>
                    <a:solidFill>
                      <a:srgbClr val="F4F5F7"/>
                    </a:solidFill>
                  </a:tcPr>
                </a:tc>
                <a:tc>
                  <a:txBody>
                    <a:bodyPr wrap="square" lIns="45720" rIns="45720" tIns="27432" bIns="27432"/>
                    <a:lstStyle/>
                    <a:p>
                      <a:pPr algn="ctr">
                        <a:defRPr sz="850">
                          <a:solidFill>
                            <a:srgbClr val="333333"/>
                          </a:solidFill>
                        </a:defRPr>
                      </a:pPr>
                      <a:r>
                        <a:t>5</a:t>
                      </a:r>
                    </a:p>
                  </a:txBody>
                  <a:tcPr>
                    <a:solidFill>
                      <a:srgbClr val="F4F5F7"/>
                    </a:solidFill>
                  </a:tcPr>
                </a:tc>
              </a:tr>
            </a:tbl>
          </a:graphicData>
        </a:graphic>
      </p:graphicFrame>
      <p:sp>
        <p:nvSpPr>
          <p:cNvPr id="5" name="TextBox 4"/>
          <p:cNvSpPr txBox="1"/>
          <p:nvPr/>
        </p:nvSpPr>
        <p:spPr>
          <a:xfrm>
            <a:off x="5852160" y="1463040"/>
            <a:ext cx="5303520" cy="365760"/>
          </a:xfrm>
          <a:prstGeom prst="rect">
            <a:avLst/>
          </a:prstGeom>
          <a:noFill/>
        </p:spPr>
        <p:txBody>
          <a:bodyPr wrap="none">
            <a:spAutoFit/>
          </a:bodyPr>
          <a:lstStyle/>
          <a:p>
            <a:pPr>
              <a:defRPr b="1" sz="1100">
                <a:solidFill>
                  <a:srgbClr val="DA1A32"/>
                </a:solidFill>
              </a:defRPr>
            </a:pPr>
            <a:r>
              <a:t>Analysis 2: RCB Core Pillars (Min 20 Matches, Top 10 Win %)</a:t>
            </a:r>
          </a:p>
        </p:txBody>
      </p:sp>
      <p:graphicFrame>
        <p:nvGraphicFramePr>
          <p:cNvPr id="6" name="Table 5"/>
          <p:cNvGraphicFramePr>
            <a:graphicFrameLocks noGrp="1"/>
          </p:cNvGraphicFramePr>
          <p:nvPr/>
        </p:nvGraphicFramePr>
        <p:xfrm>
          <a:off x="5852160" y="1828800"/>
          <a:ext cx="5303520" cy="2926080"/>
        </p:xfrm>
        <a:graphic>
          <a:graphicData uri="http://schemas.openxmlformats.org/drawingml/2006/table">
            <a:tbl>
              <a:tblPr firstRow="1" bandRow="1">
                <a:tableStyleId>{5C22544A-7EE6-4342-B048-85BDC9FD1C3A}</a:tableStyleId>
              </a:tblPr>
              <a:tblGrid>
                <a:gridCol w="2011680"/>
                <a:gridCol w="1097280"/>
                <a:gridCol w="1097280"/>
                <a:gridCol w="1097280"/>
              </a:tblGrid>
              <a:tr h="266007">
                <a:tc>
                  <a:txBody>
                    <a:bodyPr wrap="square" lIns="45720" rIns="45720" tIns="36576" bIns="36576"/>
                    <a:lstStyle/>
                    <a:p>
                      <a:pPr algn="ctr">
                        <a:defRPr b="1" sz="900">
                          <a:solidFill>
                            <a:srgbClr val="FFFFFF"/>
                          </a:solidFill>
                        </a:defRPr>
                      </a:pPr>
                      <a:r>
                        <a:t>Player_Name</a:t>
                      </a:r>
                    </a:p>
                  </a:txBody>
                  <a:tcPr>
                    <a:solidFill>
                      <a:srgbClr val="0F1E36"/>
                    </a:solidFill>
                  </a:tcPr>
                </a:tc>
                <a:tc>
                  <a:txBody>
                    <a:bodyPr wrap="square" lIns="45720" rIns="45720" tIns="36576" bIns="36576"/>
                    <a:lstStyle/>
                    <a:p>
                      <a:pPr algn="ctr">
                        <a:defRPr b="1" sz="900">
                          <a:solidFill>
                            <a:srgbClr val="FFFFFF"/>
                          </a:solidFill>
                        </a:defRPr>
                      </a:pPr>
                      <a:r>
                        <a:t>matches</a:t>
                      </a:r>
                    </a:p>
                  </a:txBody>
                  <a:tcPr>
                    <a:solidFill>
                      <a:srgbClr val="0F1E36"/>
                    </a:solidFill>
                  </a:tcPr>
                </a:tc>
                <a:tc>
                  <a:txBody>
                    <a:bodyPr wrap="square" lIns="45720" rIns="45720" tIns="36576" bIns="36576"/>
                    <a:lstStyle/>
                    <a:p>
                      <a:pPr algn="ctr">
                        <a:defRPr b="1" sz="900">
                          <a:solidFill>
                            <a:srgbClr val="FFFFFF"/>
                          </a:solidFill>
                        </a:defRPr>
                      </a:pPr>
                      <a:r>
                        <a:t>rcb_wins</a:t>
                      </a:r>
                    </a:p>
                  </a:txBody>
                  <a:tcPr>
                    <a:solidFill>
                      <a:srgbClr val="0F1E36"/>
                    </a:solidFill>
                  </a:tcPr>
                </a:tc>
                <a:tc>
                  <a:txBody>
                    <a:bodyPr wrap="square" lIns="45720" rIns="45720" tIns="36576" bIns="36576"/>
                    <a:lstStyle/>
                    <a:p>
                      <a:pPr algn="ctr">
                        <a:defRPr b="1" sz="900">
                          <a:solidFill>
                            <a:srgbClr val="FFFFFF"/>
                          </a:solidFill>
                        </a:defRPr>
                      </a:pPr>
                      <a:r>
                        <a:t>rcb_win_pct</a:t>
                      </a:r>
                    </a:p>
                  </a:txBody>
                  <a:tcPr>
                    <a:solidFill>
                      <a:srgbClr val="0F1E36"/>
                    </a:solidFill>
                  </a:tcPr>
                </a:tc>
              </a:tr>
              <a:tr h="266007">
                <a:tc>
                  <a:txBody>
                    <a:bodyPr wrap="square" lIns="45720" rIns="45720" tIns="27432" bIns="27432"/>
                    <a:lstStyle/>
                    <a:p>
                      <a:pPr algn="l">
                        <a:defRPr sz="850">
                          <a:solidFill>
                            <a:srgbClr val="333333"/>
                          </a:solidFill>
                        </a:defRPr>
                      </a:pPr>
                      <a:r>
                        <a:t>TM Dilshan</a:t>
                      </a:r>
                    </a:p>
                  </a:txBody>
                  <a:tcPr>
                    <a:solidFill>
                      <a:srgbClr val="FFFFFF"/>
                    </a:solidFill>
                  </a:tcPr>
                </a:tc>
                <a:tc>
                  <a:txBody>
                    <a:bodyPr wrap="square" lIns="45720" rIns="45720" tIns="27432" bIns="27432"/>
                    <a:lstStyle/>
                    <a:p>
                      <a:pPr algn="ctr">
                        <a:defRPr sz="850">
                          <a:solidFill>
                            <a:srgbClr val="333333"/>
                          </a:solidFill>
                        </a:defRPr>
                      </a:pPr>
                      <a:r>
                        <a:t>24</a:t>
                      </a:r>
                    </a:p>
                  </a:txBody>
                  <a:tcPr>
                    <a:solidFill>
                      <a:srgbClr val="FFFFFF"/>
                    </a:solidFill>
                  </a:tcPr>
                </a:tc>
                <a:tc>
                  <a:txBody>
                    <a:bodyPr wrap="square" lIns="45720" rIns="45720" tIns="27432" bIns="27432"/>
                    <a:lstStyle/>
                    <a:p>
                      <a:pPr algn="ctr">
                        <a:defRPr sz="850">
                          <a:solidFill>
                            <a:srgbClr val="333333"/>
                          </a:solidFill>
                        </a:defRPr>
                      </a:pPr>
                      <a:r>
                        <a:t>16</a:t>
                      </a:r>
                    </a:p>
                  </a:txBody>
                  <a:tcPr>
                    <a:solidFill>
                      <a:srgbClr val="FFFFFF"/>
                    </a:solidFill>
                  </a:tcPr>
                </a:tc>
                <a:tc>
                  <a:txBody>
                    <a:bodyPr wrap="square" lIns="45720" rIns="45720" tIns="27432" bIns="27432"/>
                    <a:lstStyle/>
                    <a:p>
                      <a:pPr algn="ctr">
                        <a:defRPr sz="850">
                          <a:solidFill>
                            <a:srgbClr val="333333"/>
                          </a:solidFill>
                        </a:defRPr>
                      </a:pPr>
                      <a:r>
                        <a:t>66.67%</a:t>
                      </a:r>
                    </a:p>
                  </a:txBody>
                  <a:tcPr>
                    <a:solidFill>
                      <a:srgbClr val="FFFFFF"/>
                    </a:solidFill>
                  </a:tcPr>
                </a:tc>
              </a:tr>
              <a:tr h="266007">
                <a:tc>
                  <a:txBody>
                    <a:bodyPr wrap="square" lIns="45720" rIns="45720" tIns="27432" bIns="27432"/>
                    <a:lstStyle/>
                    <a:p>
                      <a:pPr algn="l">
                        <a:defRPr sz="850">
                          <a:solidFill>
                            <a:srgbClr val="333333"/>
                          </a:solidFill>
                        </a:defRPr>
                      </a:pPr>
                      <a:r>
                        <a:t>S Aravind</a:t>
                      </a:r>
                    </a:p>
                  </a:txBody>
                  <a:tcPr>
                    <a:solidFill>
                      <a:srgbClr val="F4F5F7"/>
                    </a:solidFill>
                  </a:tcPr>
                </a:tc>
                <a:tc>
                  <a:txBody>
                    <a:bodyPr wrap="square" lIns="45720" rIns="45720" tIns="27432" bIns="27432"/>
                    <a:lstStyle/>
                    <a:p>
                      <a:pPr algn="ctr">
                        <a:defRPr sz="850">
                          <a:solidFill>
                            <a:srgbClr val="333333"/>
                          </a:solidFill>
                        </a:defRPr>
                      </a:pPr>
                      <a:r>
                        <a:t>28</a:t>
                      </a:r>
                    </a:p>
                  </a:txBody>
                  <a:tcPr>
                    <a:solidFill>
                      <a:srgbClr val="F4F5F7"/>
                    </a:solidFill>
                  </a:tcPr>
                </a:tc>
                <a:tc>
                  <a:txBody>
                    <a:bodyPr wrap="square" lIns="45720" rIns="45720" tIns="27432" bIns="27432"/>
                    <a:lstStyle/>
                    <a:p>
                      <a:pPr algn="ctr">
                        <a:defRPr sz="850">
                          <a:solidFill>
                            <a:srgbClr val="333333"/>
                          </a:solidFill>
                        </a:defRPr>
                      </a:pPr>
                      <a:r>
                        <a:t>17</a:t>
                      </a:r>
                    </a:p>
                  </a:txBody>
                  <a:tcPr>
                    <a:solidFill>
                      <a:srgbClr val="F4F5F7"/>
                    </a:solidFill>
                  </a:tcPr>
                </a:tc>
                <a:tc>
                  <a:txBody>
                    <a:bodyPr wrap="square" lIns="45720" rIns="45720" tIns="27432" bIns="27432"/>
                    <a:lstStyle/>
                    <a:p>
                      <a:pPr algn="ctr">
                        <a:defRPr sz="850">
                          <a:solidFill>
                            <a:srgbClr val="333333"/>
                          </a:solidFill>
                        </a:defRPr>
                      </a:pPr>
                      <a:r>
                        <a:t>60.71%</a:t>
                      </a:r>
                    </a:p>
                  </a:txBody>
                  <a:tcPr>
                    <a:solidFill>
                      <a:srgbClr val="F4F5F7"/>
                    </a:solidFill>
                  </a:tcPr>
                </a:tc>
              </a:tr>
              <a:tr h="266007">
                <a:tc>
                  <a:txBody>
                    <a:bodyPr wrap="square" lIns="45720" rIns="45720" tIns="27432" bIns="27432"/>
                    <a:lstStyle/>
                    <a:p>
                      <a:pPr algn="l">
                        <a:defRPr sz="850">
                          <a:solidFill>
                            <a:srgbClr val="333333"/>
                          </a:solidFill>
                        </a:defRPr>
                      </a:pPr>
                      <a:r>
                        <a:t>SS Tiwary</a:t>
                      </a:r>
                    </a:p>
                  </a:txBody>
                  <a:tcPr>
                    <a:solidFill>
                      <a:srgbClr val="FFFFFF"/>
                    </a:solidFill>
                  </a:tcPr>
                </a:tc>
                <a:tc>
                  <a:txBody>
                    <a:bodyPr wrap="square" lIns="45720" rIns="45720" tIns="27432" bIns="27432"/>
                    <a:lstStyle/>
                    <a:p>
                      <a:pPr algn="ctr">
                        <a:defRPr sz="850">
                          <a:solidFill>
                            <a:srgbClr val="333333"/>
                          </a:solidFill>
                        </a:defRPr>
                      </a:pPr>
                      <a:r>
                        <a:t>39</a:t>
                      </a:r>
                    </a:p>
                  </a:txBody>
                  <a:tcPr>
                    <a:solidFill>
                      <a:srgbClr val="FFFFFF"/>
                    </a:solidFill>
                  </a:tcPr>
                </a:tc>
                <a:tc>
                  <a:txBody>
                    <a:bodyPr wrap="square" lIns="45720" rIns="45720" tIns="27432" bIns="27432"/>
                    <a:lstStyle/>
                    <a:p>
                      <a:pPr algn="ctr">
                        <a:defRPr sz="850">
                          <a:solidFill>
                            <a:srgbClr val="333333"/>
                          </a:solidFill>
                        </a:defRPr>
                      </a:pPr>
                      <a:r>
                        <a:t>22</a:t>
                      </a:r>
                    </a:p>
                  </a:txBody>
                  <a:tcPr>
                    <a:solidFill>
                      <a:srgbClr val="FFFFFF"/>
                    </a:solidFill>
                  </a:tcPr>
                </a:tc>
                <a:tc>
                  <a:txBody>
                    <a:bodyPr wrap="square" lIns="45720" rIns="45720" tIns="27432" bIns="27432"/>
                    <a:lstStyle/>
                    <a:p>
                      <a:pPr algn="ctr">
                        <a:defRPr sz="850">
                          <a:solidFill>
                            <a:srgbClr val="333333"/>
                          </a:solidFill>
                        </a:defRPr>
                      </a:pPr>
                      <a:r>
                        <a:t>56.41%</a:t>
                      </a:r>
                    </a:p>
                  </a:txBody>
                  <a:tcPr>
                    <a:solidFill>
                      <a:srgbClr val="FFFFFF"/>
                    </a:solidFill>
                  </a:tcPr>
                </a:tc>
              </a:tr>
              <a:tr h="266007">
                <a:tc>
                  <a:txBody>
                    <a:bodyPr wrap="square" lIns="45720" rIns="45720" tIns="27432" bIns="27432"/>
                    <a:lstStyle/>
                    <a:p>
                      <a:pPr algn="l">
                        <a:defRPr sz="850">
                          <a:solidFill>
                            <a:srgbClr val="333333"/>
                          </a:solidFill>
                        </a:defRPr>
                      </a:pPr>
                      <a:r>
                        <a:t>CH Gayle</a:t>
                      </a:r>
                    </a:p>
                  </a:txBody>
                  <a:tcPr>
                    <a:solidFill>
                      <a:srgbClr val="F4F5F7"/>
                    </a:solidFill>
                  </a:tcPr>
                </a:tc>
                <a:tc>
                  <a:txBody>
                    <a:bodyPr wrap="square" lIns="45720" rIns="45720" tIns="27432" bIns="27432"/>
                    <a:lstStyle/>
                    <a:p>
                      <a:pPr algn="ctr">
                        <a:defRPr sz="850">
                          <a:solidFill>
                            <a:srgbClr val="333333"/>
                          </a:solidFill>
                        </a:defRPr>
                      </a:pPr>
                      <a:r>
                        <a:t>75</a:t>
                      </a:r>
                    </a:p>
                  </a:txBody>
                  <a:tcPr>
                    <a:solidFill>
                      <a:srgbClr val="F4F5F7"/>
                    </a:solidFill>
                  </a:tcPr>
                </a:tc>
                <a:tc>
                  <a:txBody>
                    <a:bodyPr wrap="square" lIns="45720" rIns="45720" tIns="27432" bIns="27432"/>
                    <a:lstStyle/>
                    <a:p>
                      <a:pPr algn="ctr">
                        <a:defRPr sz="850">
                          <a:solidFill>
                            <a:srgbClr val="333333"/>
                          </a:solidFill>
                        </a:defRPr>
                      </a:pPr>
                      <a:r>
                        <a:t>42</a:t>
                      </a:r>
                    </a:p>
                  </a:txBody>
                  <a:tcPr>
                    <a:solidFill>
                      <a:srgbClr val="F4F5F7"/>
                    </a:solidFill>
                  </a:tcPr>
                </a:tc>
                <a:tc>
                  <a:txBody>
                    <a:bodyPr wrap="square" lIns="45720" rIns="45720" tIns="27432" bIns="27432"/>
                    <a:lstStyle/>
                    <a:p>
                      <a:pPr algn="ctr">
                        <a:defRPr sz="850">
                          <a:solidFill>
                            <a:srgbClr val="333333"/>
                          </a:solidFill>
                        </a:defRPr>
                      </a:pPr>
                      <a:r>
                        <a:t>56.00%</a:t>
                      </a:r>
                    </a:p>
                  </a:txBody>
                  <a:tcPr>
                    <a:solidFill>
                      <a:srgbClr val="F4F5F7"/>
                    </a:solidFill>
                  </a:tcPr>
                </a:tc>
              </a:tr>
              <a:tr h="266007">
                <a:tc>
                  <a:txBody>
                    <a:bodyPr wrap="square" lIns="45720" rIns="45720" tIns="27432" bIns="27432"/>
                    <a:lstStyle/>
                    <a:p>
                      <a:pPr algn="l">
                        <a:defRPr sz="850">
                          <a:solidFill>
                            <a:srgbClr val="333333"/>
                          </a:solidFill>
                        </a:defRPr>
                      </a:pPr>
                      <a:r>
                        <a:t>MV Boucher</a:t>
                      </a:r>
                    </a:p>
                  </a:txBody>
                  <a:tcPr>
                    <a:solidFill>
                      <a:srgbClr val="FFFFFF"/>
                    </a:solidFill>
                  </a:tcPr>
                </a:tc>
                <a:tc>
                  <a:txBody>
                    <a:bodyPr wrap="square" lIns="45720" rIns="45720" tIns="27432" bIns="27432"/>
                    <a:lstStyle/>
                    <a:p>
                      <a:pPr algn="ctr">
                        <a:defRPr sz="850">
                          <a:solidFill>
                            <a:srgbClr val="333333"/>
                          </a:solidFill>
                        </a:defRPr>
                      </a:pPr>
                      <a:r>
                        <a:t>27</a:t>
                      </a:r>
                    </a:p>
                  </a:txBody>
                  <a:tcPr>
                    <a:solidFill>
                      <a:srgbClr val="FFFFFF"/>
                    </a:solidFill>
                  </a:tcPr>
                </a:tc>
                <a:tc>
                  <a:txBody>
                    <a:bodyPr wrap="square" lIns="45720" rIns="45720" tIns="27432" bIns="27432"/>
                    <a:lstStyle/>
                    <a:p>
                      <a:pPr algn="ctr">
                        <a:defRPr sz="850">
                          <a:solidFill>
                            <a:srgbClr val="333333"/>
                          </a:solidFill>
                        </a:defRPr>
                      </a:pPr>
                      <a:r>
                        <a:t>15</a:t>
                      </a:r>
                    </a:p>
                  </a:txBody>
                  <a:tcPr>
                    <a:solidFill>
                      <a:srgbClr val="FFFFFF"/>
                    </a:solidFill>
                  </a:tcPr>
                </a:tc>
                <a:tc>
                  <a:txBody>
                    <a:bodyPr wrap="square" lIns="45720" rIns="45720" tIns="27432" bIns="27432"/>
                    <a:lstStyle/>
                    <a:p>
                      <a:pPr algn="ctr">
                        <a:defRPr sz="850">
                          <a:solidFill>
                            <a:srgbClr val="333333"/>
                          </a:solidFill>
                        </a:defRPr>
                      </a:pPr>
                      <a:r>
                        <a:t>55.56%</a:t>
                      </a:r>
                    </a:p>
                  </a:txBody>
                  <a:tcPr>
                    <a:solidFill>
                      <a:srgbClr val="FFFFFF"/>
                    </a:solidFill>
                  </a:tcPr>
                </a:tc>
              </a:tr>
              <a:tr h="266007">
                <a:tc>
                  <a:txBody>
                    <a:bodyPr wrap="square" lIns="45720" rIns="45720" tIns="27432" bIns="27432"/>
                    <a:lstStyle/>
                    <a:p>
                      <a:pPr algn="l">
                        <a:defRPr sz="850">
                          <a:solidFill>
                            <a:srgbClr val="333333"/>
                          </a:solidFill>
                        </a:defRPr>
                      </a:pPr>
                      <a:r>
                        <a:t>DL Vettori</a:t>
                      </a:r>
                    </a:p>
                  </a:txBody>
                  <a:tcPr>
                    <a:solidFill>
                      <a:srgbClr val="F4F5F7"/>
                    </a:solidFill>
                  </a:tcPr>
                </a:tc>
                <a:tc>
                  <a:txBody>
                    <a:bodyPr wrap="square" lIns="45720" rIns="45720" tIns="27432" bIns="27432"/>
                    <a:lstStyle/>
                    <a:p>
                      <a:pPr algn="ctr">
                        <a:defRPr sz="850">
                          <a:solidFill>
                            <a:srgbClr val="333333"/>
                          </a:solidFill>
                        </a:defRPr>
                      </a:pPr>
                      <a:r>
                        <a:t>22</a:t>
                      </a:r>
                    </a:p>
                  </a:txBody>
                  <a:tcPr>
                    <a:solidFill>
                      <a:srgbClr val="F4F5F7"/>
                    </a:solidFill>
                  </a:tcPr>
                </a:tc>
                <a:tc>
                  <a:txBody>
                    <a:bodyPr wrap="square" lIns="45720" rIns="45720" tIns="27432" bIns="27432"/>
                    <a:lstStyle/>
                    <a:p>
                      <a:pPr algn="ctr">
                        <a:defRPr sz="850">
                          <a:solidFill>
                            <a:srgbClr val="333333"/>
                          </a:solidFill>
                        </a:defRPr>
                      </a:pPr>
                      <a:r>
                        <a:t>12</a:t>
                      </a:r>
                    </a:p>
                  </a:txBody>
                  <a:tcPr>
                    <a:solidFill>
                      <a:srgbClr val="F4F5F7"/>
                    </a:solidFill>
                  </a:tcPr>
                </a:tc>
                <a:tc>
                  <a:txBody>
                    <a:bodyPr wrap="square" lIns="45720" rIns="45720" tIns="27432" bIns="27432"/>
                    <a:lstStyle/>
                    <a:p>
                      <a:pPr algn="ctr">
                        <a:defRPr sz="850">
                          <a:solidFill>
                            <a:srgbClr val="333333"/>
                          </a:solidFill>
                        </a:defRPr>
                      </a:pPr>
                      <a:r>
                        <a:t>54.55%</a:t>
                      </a:r>
                    </a:p>
                  </a:txBody>
                  <a:tcPr>
                    <a:solidFill>
                      <a:srgbClr val="F4F5F7"/>
                    </a:solidFill>
                  </a:tcPr>
                </a:tc>
              </a:tr>
              <a:tr h="266007">
                <a:tc>
                  <a:txBody>
                    <a:bodyPr wrap="square" lIns="45720" rIns="45720" tIns="27432" bIns="27432"/>
                    <a:lstStyle/>
                    <a:p>
                      <a:pPr algn="l">
                        <a:defRPr sz="850">
                          <a:solidFill>
                            <a:srgbClr val="333333"/>
                          </a:solidFill>
                        </a:defRPr>
                      </a:pPr>
                      <a:r>
                        <a:t>HV Patel</a:t>
                      </a:r>
                    </a:p>
                  </a:txBody>
                  <a:tcPr>
                    <a:solidFill>
                      <a:srgbClr val="FFFFFF"/>
                    </a:solidFill>
                  </a:tcPr>
                </a:tc>
                <a:tc>
                  <a:txBody>
                    <a:bodyPr wrap="square" lIns="45720" rIns="45720" tIns="27432" bIns="27432"/>
                    <a:lstStyle/>
                    <a:p>
                      <a:pPr algn="ctr">
                        <a:defRPr sz="850">
                          <a:solidFill>
                            <a:srgbClr val="333333"/>
                          </a:solidFill>
                        </a:defRPr>
                      </a:pPr>
                      <a:r>
                        <a:t>34</a:t>
                      </a:r>
                    </a:p>
                  </a:txBody>
                  <a:tcPr>
                    <a:solidFill>
                      <a:srgbClr val="FFFFFF"/>
                    </a:solidFill>
                  </a:tcPr>
                </a:tc>
                <a:tc>
                  <a:txBody>
                    <a:bodyPr wrap="square" lIns="45720" rIns="45720" tIns="27432" bIns="27432"/>
                    <a:lstStyle/>
                    <a:p>
                      <a:pPr algn="ctr">
                        <a:defRPr sz="850">
                          <a:solidFill>
                            <a:srgbClr val="333333"/>
                          </a:solidFill>
                        </a:defRPr>
                      </a:pPr>
                      <a:r>
                        <a:t>18</a:t>
                      </a:r>
                    </a:p>
                  </a:txBody>
                  <a:tcPr>
                    <a:solidFill>
                      <a:srgbClr val="FFFFFF"/>
                    </a:solidFill>
                  </a:tcPr>
                </a:tc>
                <a:tc>
                  <a:txBody>
                    <a:bodyPr wrap="square" lIns="45720" rIns="45720" tIns="27432" bIns="27432"/>
                    <a:lstStyle/>
                    <a:p>
                      <a:pPr algn="ctr">
                        <a:defRPr sz="850">
                          <a:solidFill>
                            <a:srgbClr val="333333"/>
                          </a:solidFill>
                        </a:defRPr>
                      </a:pPr>
                      <a:r>
                        <a:t>52.94%</a:t>
                      </a:r>
                    </a:p>
                  </a:txBody>
                  <a:tcPr>
                    <a:solidFill>
                      <a:srgbClr val="FFFFFF"/>
                    </a:solidFill>
                  </a:tcPr>
                </a:tc>
              </a:tr>
              <a:tr h="266007">
                <a:tc>
                  <a:txBody>
                    <a:bodyPr wrap="square" lIns="45720" rIns="45720" tIns="27432" bIns="27432"/>
                    <a:lstStyle/>
                    <a:p>
                      <a:pPr algn="l">
                        <a:defRPr sz="850">
                          <a:solidFill>
                            <a:srgbClr val="333333"/>
                          </a:solidFill>
                        </a:defRPr>
                      </a:pPr>
                      <a:r>
                        <a:t>AB de Villiers</a:t>
                      </a:r>
                    </a:p>
                  </a:txBody>
                  <a:tcPr>
                    <a:solidFill>
                      <a:srgbClr val="F4F5F7"/>
                    </a:solidFill>
                  </a:tcPr>
                </a:tc>
                <a:tc>
                  <a:txBody>
                    <a:bodyPr wrap="square" lIns="45720" rIns="45720" tIns="27432" bIns="27432"/>
                    <a:lstStyle/>
                    <a:p>
                      <a:pPr algn="ctr">
                        <a:defRPr sz="850">
                          <a:solidFill>
                            <a:srgbClr val="333333"/>
                          </a:solidFill>
                        </a:defRPr>
                      </a:pPr>
                      <a:r>
                        <a:t>91</a:t>
                      </a:r>
                    </a:p>
                  </a:txBody>
                  <a:tcPr>
                    <a:solidFill>
                      <a:srgbClr val="F4F5F7"/>
                    </a:solidFill>
                  </a:tcPr>
                </a:tc>
                <a:tc>
                  <a:txBody>
                    <a:bodyPr wrap="square" lIns="45720" rIns="45720" tIns="27432" bIns="27432"/>
                    <a:lstStyle/>
                    <a:p>
                      <a:pPr algn="ctr">
                        <a:defRPr sz="850">
                          <a:solidFill>
                            <a:srgbClr val="333333"/>
                          </a:solidFill>
                        </a:defRPr>
                      </a:pPr>
                      <a:r>
                        <a:t>48</a:t>
                      </a:r>
                    </a:p>
                  </a:txBody>
                  <a:tcPr>
                    <a:solidFill>
                      <a:srgbClr val="F4F5F7"/>
                    </a:solidFill>
                  </a:tcPr>
                </a:tc>
                <a:tc>
                  <a:txBody>
                    <a:bodyPr wrap="square" lIns="45720" rIns="45720" tIns="27432" bIns="27432"/>
                    <a:lstStyle/>
                    <a:p>
                      <a:pPr algn="ctr">
                        <a:defRPr sz="850">
                          <a:solidFill>
                            <a:srgbClr val="333333"/>
                          </a:solidFill>
                        </a:defRPr>
                      </a:pPr>
                      <a:r>
                        <a:t>52.75%</a:t>
                      </a:r>
                    </a:p>
                  </a:txBody>
                  <a:tcPr>
                    <a:solidFill>
                      <a:srgbClr val="F4F5F7"/>
                    </a:solidFill>
                  </a:tcPr>
                </a:tc>
              </a:tr>
              <a:tr h="266007">
                <a:tc>
                  <a:txBody>
                    <a:bodyPr wrap="square" lIns="45720" rIns="45720" tIns="27432" bIns="27432"/>
                    <a:lstStyle/>
                    <a:p>
                      <a:pPr algn="l">
                        <a:defRPr sz="850">
                          <a:solidFill>
                            <a:srgbClr val="333333"/>
                          </a:solidFill>
                        </a:defRPr>
                      </a:pPr>
                      <a:r>
                        <a:t>M Muralitharan</a:t>
                      </a:r>
                    </a:p>
                  </a:txBody>
                  <a:tcPr>
                    <a:solidFill>
                      <a:srgbClr val="FFFFFF"/>
                    </a:solidFill>
                  </a:tcPr>
                </a:tc>
                <a:tc>
                  <a:txBody>
                    <a:bodyPr wrap="square" lIns="45720" rIns="45720" tIns="27432" bIns="27432"/>
                    <a:lstStyle/>
                    <a:p>
                      <a:pPr algn="ctr">
                        <a:defRPr sz="850">
                          <a:solidFill>
                            <a:srgbClr val="333333"/>
                          </a:solidFill>
                        </a:defRPr>
                      </a:pPr>
                      <a:r>
                        <a:t>21</a:t>
                      </a:r>
                    </a:p>
                  </a:txBody>
                  <a:tcPr>
                    <a:solidFill>
                      <a:srgbClr val="FFFFFF"/>
                    </a:solidFill>
                  </a:tcPr>
                </a:tc>
                <a:tc>
                  <a:txBody>
                    <a:bodyPr wrap="square" lIns="45720" rIns="45720" tIns="27432" bIns="27432"/>
                    <a:lstStyle/>
                    <a:p>
                      <a:pPr algn="ctr">
                        <a:defRPr sz="850">
                          <a:solidFill>
                            <a:srgbClr val="333333"/>
                          </a:solidFill>
                        </a:defRPr>
                      </a:pPr>
                      <a:r>
                        <a:t>11</a:t>
                      </a:r>
                    </a:p>
                  </a:txBody>
                  <a:tcPr>
                    <a:solidFill>
                      <a:srgbClr val="FFFFFF"/>
                    </a:solidFill>
                  </a:tcPr>
                </a:tc>
                <a:tc>
                  <a:txBody>
                    <a:bodyPr wrap="square" lIns="45720" rIns="45720" tIns="27432" bIns="27432"/>
                    <a:lstStyle/>
                    <a:p>
                      <a:pPr algn="ctr">
                        <a:defRPr sz="850">
                          <a:solidFill>
                            <a:srgbClr val="333333"/>
                          </a:solidFill>
                        </a:defRPr>
                      </a:pPr>
                      <a:r>
                        <a:t>52.38%</a:t>
                      </a:r>
                    </a:p>
                  </a:txBody>
                  <a:tcPr>
                    <a:solidFill>
                      <a:srgbClr val="FFFFFF"/>
                    </a:solidFill>
                  </a:tcPr>
                </a:tc>
              </a:tr>
              <a:tr h="266010">
                <a:tc>
                  <a:txBody>
                    <a:bodyPr wrap="square" lIns="45720" rIns="45720" tIns="27432" bIns="27432"/>
                    <a:lstStyle/>
                    <a:p>
                      <a:pPr algn="l">
                        <a:defRPr sz="850">
                          <a:solidFill>
                            <a:srgbClr val="333333"/>
                          </a:solidFill>
                        </a:defRPr>
                      </a:pPr>
                      <a:r>
                        <a:t>RV Uthappa</a:t>
                      </a:r>
                    </a:p>
                  </a:txBody>
                  <a:tcPr>
                    <a:solidFill>
                      <a:srgbClr val="F4F5F7"/>
                    </a:solidFill>
                  </a:tcPr>
                </a:tc>
                <a:tc>
                  <a:txBody>
                    <a:bodyPr wrap="square" lIns="45720" rIns="45720" tIns="27432" bIns="27432"/>
                    <a:lstStyle/>
                    <a:p>
                      <a:pPr algn="ctr">
                        <a:defRPr sz="850">
                          <a:solidFill>
                            <a:srgbClr val="333333"/>
                          </a:solidFill>
                        </a:defRPr>
                      </a:pPr>
                      <a:r>
                        <a:t>31</a:t>
                      </a:r>
                    </a:p>
                  </a:txBody>
                  <a:tcPr>
                    <a:solidFill>
                      <a:srgbClr val="F4F5F7"/>
                    </a:solidFill>
                  </a:tcPr>
                </a:tc>
                <a:tc>
                  <a:txBody>
                    <a:bodyPr wrap="square" lIns="45720" rIns="45720" tIns="27432" bIns="27432"/>
                    <a:lstStyle/>
                    <a:p>
                      <a:pPr algn="ctr">
                        <a:defRPr sz="850">
                          <a:solidFill>
                            <a:srgbClr val="333333"/>
                          </a:solidFill>
                        </a:defRPr>
                      </a:pPr>
                      <a:r>
                        <a:t>16</a:t>
                      </a:r>
                    </a:p>
                  </a:txBody>
                  <a:tcPr>
                    <a:solidFill>
                      <a:srgbClr val="F4F5F7"/>
                    </a:solidFill>
                  </a:tcPr>
                </a:tc>
                <a:tc>
                  <a:txBody>
                    <a:bodyPr wrap="square" lIns="45720" rIns="45720" tIns="27432" bIns="27432"/>
                    <a:lstStyle/>
                    <a:p>
                      <a:pPr algn="ctr">
                        <a:defRPr sz="850">
                          <a:solidFill>
                            <a:srgbClr val="333333"/>
                          </a:solidFill>
                        </a:defRPr>
                      </a:pPr>
                      <a:r>
                        <a:t>51.61%</a:t>
                      </a:r>
                    </a:p>
                  </a:txBody>
                  <a:tcPr>
                    <a:solidFill>
                      <a:srgbClr val="F4F5F7"/>
                    </a:solidFill>
                  </a:tcPr>
                </a:tc>
              </a:tr>
            </a:tbl>
          </a:graphicData>
        </a:graphic>
      </p:graphicFrame>
      <p:sp>
        <p:nvSpPr>
          <p:cNvPr id="7" name="TextBox 6"/>
          <p:cNvSpPr txBox="1"/>
          <p:nvPr/>
        </p:nvSpPr>
        <p:spPr>
          <a:xfrm>
            <a:off x="731520" y="4937760"/>
            <a:ext cx="10424160" cy="1005840"/>
          </a:xfrm>
          <a:prstGeom prst="rect">
            <a:avLst/>
          </a:prstGeom>
          <a:noFill/>
        </p:spPr>
        <p:txBody>
          <a:bodyPr wrap="square">
            <a:spAutoFit/>
          </a:bodyPr>
          <a:lstStyle/>
          <a:p>
            <a:pPr>
              <a:defRPr sz="950">
                <a:solidFill>
                  <a:srgbClr val="333333"/>
                </a:solidFill>
              </a:defRPr>
            </a:pPr>
            <a:r>
              <a:t>• Analysis 1 (Match Impact): Chris Gayle (17 MoMs, #1) and AB de Villiers (15 MoMs, #3) lead in individual match-winning knocks. Man-of-the-Match awards provide an observable measure of individual match impact, although they do not by themselves establish a causal effect on team morale or win probability.</a:t>
            </a:r>
            <a:br/>
            <a:r>
              <a:t>• Analysis 2 (Core Pillars): TM Dilshan (66.67%) and S Aravind (60.71%) record the highest win percentages for RCB (min 20 matches), followed by SS Tiwary (56.41%), CH Gayle (56.00%, 42 wins in 75 matches), and AB de Villiers (52.75%, 48 wins in 91 matches), demonstrating player appearance consistency.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100" b="1">
                <a:solidFill>
                  <a:srgbClr val="DA1A32"/>
                </a:solidFill>
              </a:defRPr>
            </a:pPr>
            <a:r>
              <a:t>PHASE-WISE LEAKAGE DIAGNOSIS</a:t>
            </a:r>
          </a:p>
          <a:p>
            <a:pPr>
              <a:defRPr sz="2200" b="1">
                <a:solidFill>
                  <a:srgbClr val="0F1E36"/>
                </a:solidFill>
              </a:defRPr>
            </a:pPr>
            <a:r>
              <a:t>RCB Bowling Economy Rate by Match Phase</a:t>
            </a:r>
          </a:p>
        </p:txBody>
      </p:sp>
      <p:pic>
        <p:nvPicPr>
          <p:cNvPr id="3" name="Picture 2" descr="chart_s6_rcb_bowling_phases.png"/>
          <p:cNvPicPr>
            <a:picLocks noChangeAspect="1"/>
          </p:cNvPicPr>
          <p:nvPr/>
        </p:nvPicPr>
        <p:blipFill>
          <a:blip r:embed="rId2"/>
          <a:stretch>
            <a:fillRect/>
          </a:stretch>
        </p:blipFill>
        <p:spPr>
          <a:xfrm>
            <a:off x="731520" y="1645920"/>
            <a:ext cx="5486400" cy="3048000"/>
          </a:xfrm>
          <a:prstGeom prst="rect">
            <a:avLst/>
          </a:prstGeom>
        </p:spPr>
      </p:pic>
      <p:sp>
        <p:nvSpPr>
          <p:cNvPr id="4" name="TextBox 3"/>
          <p:cNvSpPr txBox="1"/>
          <p:nvPr/>
        </p:nvSpPr>
        <p:spPr>
          <a:xfrm>
            <a:off x="6492240" y="1645920"/>
            <a:ext cx="4937760" cy="4572000"/>
          </a:xfrm>
          <a:prstGeom prst="rect">
            <a:avLst/>
          </a:prstGeom>
          <a:noFill/>
        </p:spPr>
        <p:txBody>
          <a:bodyPr wrap="square" lIns="0" tIns="0" rIns="0" bIns="0">
            <a:spAutoFit/>
          </a:bodyPr>
          <a:lstStyle/>
          <a:p>
            <a:pPr>
              <a:spcBef>
                <a:spcPts val="0"/>
              </a:spcBef>
              <a:defRPr sz="1500" b="1">
                <a:solidFill>
                  <a:srgbClr val="0F1E36"/>
                </a:solidFill>
              </a:defRPr>
            </a:pPr>
            <a:r>
              <a:t>• The Death Overs Calamity</a:t>
            </a:r>
          </a:p>
          <a:p>
            <a:pPr>
              <a:spcBef>
                <a:spcPts val="400"/>
              </a:spcBef>
              <a:defRPr sz="1300">
                <a:solidFill>
                  <a:srgbClr val="333333"/>
                </a:solidFill>
              </a:defRPr>
            </a:pPr>
            <a:r>
              <a:t>RCB concedes an alarming 9.56 runs per over in the Death Phase (overs 16–20), leaking 5,890 runs.</a:t>
            </a:r>
          </a:p>
          <a:p>
            <a:pPr>
              <a:spcBef>
                <a:spcPts val="1200"/>
              </a:spcBef>
              <a:defRPr sz="1500" b="1">
                <a:solidFill>
                  <a:srgbClr val="0F1E36"/>
                </a:solidFill>
              </a:defRPr>
            </a:pPr>
            <a:r>
              <a:t>• Powerplay &amp; Middle Overs Parity</a:t>
            </a:r>
          </a:p>
          <a:p>
            <a:pPr>
              <a:spcBef>
                <a:spcPts val="400"/>
              </a:spcBef>
              <a:defRPr sz="1300">
                <a:solidFill>
                  <a:srgbClr val="333333"/>
                </a:solidFill>
              </a:defRPr>
            </a:pPr>
            <a:r>
              <a:t>Powerplay (7.19 RPO) and Middle Overs (7.56 RPO) remain controlled, identifying the death-overs phase (9.56 RPO) as the primary area of defensive run leakage.</a:t>
            </a:r>
          </a:p>
          <a:p>
            <a:pPr>
              <a:spcBef>
                <a:spcPts val="1200"/>
              </a:spcBef>
              <a:defRPr sz="1500" b="1">
                <a:solidFill>
                  <a:srgbClr val="0F1E36"/>
                </a:solidFill>
              </a:defRPr>
            </a:pPr>
            <a:r>
              <a:t>• Actionable Remedy</a:t>
            </a:r>
          </a:p>
          <a:p>
            <a:pPr>
              <a:spcBef>
                <a:spcPts val="400"/>
              </a:spcBef>
              <a:defRPr sz="1300">
                <a:solidFill>
                  <a:srgbClr val="333333"/>
                </a:solidFill>
              </a:defRPr>
            </a:pPr>
            <a:r>
              <a:t>RCB must acquire specialized yorker executioners and change-of-pace masters to bring death economy under 8.50 RPO.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spcAft>
                <a:spcPts val="200"/>
              </a:spcAft>
              <a:defRPr b="1" sz="1100">
                <a:solidFill>
                  <a:srgbClr val="DA1A32"/>
                </a:solidFill>
              </a:defRPr>
            </a:pPr>
            <a:r>
              <a:t>HIGH-SCORING VENUES &amp; SCORING DYNAMICS (S7)</a:t>
            </a:r>
          </a:p>
          <a:p>
            <a:pPr>
              <a:defRPr b="1" sz="1800">
                <a:solidFill>
                  <a:srgbClr val="0F1E36"/>
                </a:solidFill>
              </a:defRPr>
            </a:pPr>
            <a:r>
              <a:t>Venue Scoring Benchmarks, Boundary Reliance &amp; Broadcast Analysis</a:t>
            </a:r>
          </a:p>
        </p:txBody>
      </p:sp>
      <p:sp>
        <p:nvSpPr>
          <p:cNvPr id="3" name="TextBox 2"/>
          <p:cNvSpPr txBox="1"/>
          <p:nvPr/>
        </p:nvSpPr>
        <p:spPr>
          <a:xfrm>
            <a:off x="731520" y="1463040"/>
            <a:ext cx="5669280" cy="365760"/>
          </a:xfrm>
          <a:prstGeom prst="rect">
            <a:avLst/>
          </a:prstGeom>
          <a:noFill/>
        </p:spPr>
        <p:txBody>
          <a:bodyPr wrap="none">
            <a:spAutoFit/>
          </a:bodyPr>
          <a:lstStyle/>
          <a:p>
            <a:pPr>
              <a:defRPr b="1" sz="1100">
                <a:solidFill>
                  <a:srgbClr val="DA1A32"/>
                </a:solidFill>
              </a:defRPr>
            </a:pPr>
            <a:r>
              <a:t>Venue Scoring &amp; Boundary Percentage Benchmark (Min 10 Matches)</a:t>
            </a:r>
          </a:p>
        </p:txBody>
      </p:sp>
      <p:graphicFrame>
        <p:nvGraphicFramePr>
          <p:cNvPr id="4" name="Table 3"/>
          <p:cNvGraphicFramePr>
            <a:graphicFrameLocks noGrp="1"/>
          </p:cNvGraphicFramePr>
          <p:nvPr/>
        </p:nvGraphicFramePr>
        <p:xfrm>
          <a:off x="731520" y="1920240"/>
          <a:ext cx="5669280" cy="2560320"/>
        </p:xfrm>
        <a:graphic>
          <a:graphicData uri="http://schemas.openxmlformats.org/drawingml/2006/table">
            <a:tbl>
              <a:tblPr firstRow="1" bandRow="1">
                <a:tableStyleId>{5C22544A-7EE6-4342-B048-85BDC9FD1C3A}</a:tableStyleId>
              </a:tblPr>
              <a:tblGrid>
                <a:gridCol w="2377440"/>
                <a:gridCol w="822960"/>
                <a:gridCol w="822960"/>
                <a:gridCol w="822960"/>
                <a:gridCol w="822960"/>
              </a:tblGrid>
              <a:tr h="426720">
                <a:tc>
                  <a:txBody>
                    <a:bodyPr wrap="square" lIns="45720" rIns="45720" tIns="36576" bIns="36576"/>
                    <a:lstStyle/>
                    <a:p>
                      <a:pPr algn="ctr">
                        <a:defRPr b="1" sz="950">
                          <a:solidFill>
                            <a:srgbClr val="FFFFFF"/>
                          </a:solidFill>
                        </a:defRPr>
                      </a:pPr>
                      <a:r>
                        <a:t>Venue_Name</a:t>
                      </a:r>
                    </a:p>
                  </a:txBody>
                  <a:tcPr>
                    <a:solidFill>
                      <a:srgbClr val="0F1E36"/>
                    </a:solidFill>
                  </a:tcPr>
                </a:tc>
                <a:tc>
                  <a:txBody>
                    <a:bodyPr wrap="square" lIns="45720" rIns="45720" tIns="36576" bIns="36576"/>
                    <a:lstStyle/>
                    <a:p>
                      <a:pPr algn="ctr">
                        <a:defRPr b="1" sz="950">
                          <a:solidFill>
                            <a:srgbClr val="FFFFFF"/>
                          </a:solidFill>
                        </a:defRPr>
                      </a:pPr>
                      <a:r>
                        <a:t>matches</a:t>
                      </a:r>
                    </a:p>
                  </a:txBody>
                  <a:tcPr>
                    <a:solidFill>
                      <a:srgbClr val="0F1E36"/>
                    </a:solidFill>
                  </a:tcPr>
                </a:tc>
                <a:tc>
                  <a:txBody>
                    <a:bodyPr wrap="square" lIns="45720" rIns="45720" tIns="36576" bIns="36576"/>
                    <a:lstStyle/>
                    <a:p>
                      <a:pPr algn="ctr">
                        <a:defRPr b="1" sz="950">
                          <a:solidFill>
                            <a:srgbClr val="FFFFFF"/>
                          </a:solidFill>
                        </a:defRPr>
                      </a:pPr>
                      <a:r>
                        <a:t>avg_runs</a:t>
                      </a:r>
                    </a:p>
                  </a:txBody>
                  <a:tcPr>
                    <a:solidFill>
                      <a:srgbClr val="0F1E36"/>
                    </a:solidFill>
                  </a:tcPr>
                </a:tc>
                <a:tc>
                  <a:txBody>
                    <a:bodyPr wrap="square" lIns="45720" rIns="45720" tIns="36576" bIns="36576"/>
                    <a:lstStyle/>
                    <a:p>
                      <a:pPr algn="ctr">
                        <a:defRPr b="1" sz="950">
                          <a:solidFill>
                            <a:srgbClr val="FFFFFF"/>
                          </a:solidFill>
                        </a:defRPr>
                      </a:pPr>
                      <a:r>
                        <a:t>max_runs</a:t>
                      </a:r>
                    </a:p>
                  </a:txBody>
                  <a:tcPr>
                    <a:solidFill>
                      <a:srgbClr val="0F1E36"/>
                    </a:solidFill>
                  </a:tcPr>
                </a:tc>
                <a:tc>
                  <a:txBody>
                    <a:bodyPr wrap="square" lIns="45720" rIns="45720" tIns="36576" bIns="36576"/>
                    <a:lstStyle/>
                    <a:p>
                      <a:pPr algn="ctr">
                        <a:defRPr b="1" sz="950">
                          <a:solidFill>
                            <a:srgbClr val="FFFFFF"/>
                          </a:solidFill>
                        </a:defRPr>
                      </a:pPr>
                      <a:r>
                        <a:t>boundary_pct</a:t>
                      </a:r>
                    </a:p>
                  </a:txBody>
                  <a:tcPr>
                    <a:solidFill>
                      <a:srgbClr val="0F1E36"/>
                    </a:solidFill>
                  </a:tcPr>
                </a:tc>
              </a:tr>
              <a:tr h="426720">
                <a:tc>
                  <a:txBody>
                    <a:bodyPr wrap="square" lIns="45720" rIns="45720" tIns="27432" bIns="27432"/>
                    <a:lstStyle/>
                    <a:p>
                      <a:pPr algn="l">
                        <a:defRPr sz="900">
                          <a:solidFill>
                            <a:srgbClr val="333333"/>
                          </a:solidFill>
                        </a:defRPr>
                      </a:pPr>
                      <a:r>
                        <a:t>Brabourne Stadium</a:t>
                      </a:r>
                    </a:p>
                  </a:txBody>
                  <a:tcPr>
                    <a:solidFill>
                      <a:srgbClr val="FFFFFF"/>
                    </a:solidFill>
                  </a:tcPr>
                </a:tc>
                <a:tc>
                  <a:txBody>
                    <a:bodyPr wrap="square" lIns="45720" rIns="45720" tIns="27432" bIns="27432"/>
                    <a:lstStyle/>
                    <a:p>
                      <a:pPr algn="ctr">
                        <a:defRPr sz="900">
                          <a:solidFill>
                            <a:srgbClr val="333333"/>
                          </a:solidFill>
                        </a:defRPr>
                      </a:pPr>
                      <a:r>
                        <a:t>11</a:t>
                      </a:r>
                    </a:p>
                  </a:txBody>
                  <a:tcPr>
                    <a:solidFill>
                      <a:srgbClr val="FFFFFF"/>
                    </a:solidFill>
                  </a:tcPr>
                </a:tc>
                <a:tc>
                  <a:txBody>
                    <a:bodyPr wrap="square" lIns="45720" rIns="45720" tIns="27432" bIns="27432"/>
                    <a:lstStyle/>
                    <a:p>
                      <a:pPr algn="ctr">
                        <a:defRPr sz="900">
                          <a:solidFill>
                            <a:srgbClr val="333333"/>
                          </a:solidFill>
                        </a:defRPr>
                      </a:pPr>
                      <a:r>
                        <a:t>349.18</a:t>
                      </a:r>
                    </a:p>
                  </a:txBody>
                  <a:tcPr>
                    <a:solidFill>
                      <a:srgbClr val="FFFFFF"/>
                    </a:solidFill>
                  </a:tcPr>
                </a:tc>
                <a:tc>
                  <a:txBody>
                    <a:bodyPr wrap="square" lIns="45720" rIns="45720" tIns="27432" bIns="27432"/>
                    <a:lstStyle/>
                    <a:p>
                      <a:pPr algn="ctr">
                        <a:defRPr sz="900">
                          <a:solidFill>
                            <a:srgbClr val="333333"/>
                          </a:solidFill>
                        </a:defRPr>
                      </a:pPr>
                      <a:r>
                        <a:t>420</a:t>
                      </a:r>
                    </a:p>
                  </a:txBody>
                  <a:tcPr>
                    <a:solidFill>
                      <a:srgbClr val="FFFFFF"/>
                    </a:solidFill>
                  </a:tcPr>
                </a:tc>
                <a:tc>
                  <a:txBody>
                    <a:bodyPr wrap="square" lIns="45720" rIns="45720" tIns="27432" bIns="27432"/>
                    <a:lstStyle/>
                    <a:p>
                      <a:pPr algn="ctr">
                        <a:defRPr sz="900">
                          <a:solidFill>
                            <a:srgbClr val="333333"/>
                          </a:solidFill>
                        </a:defRPr>
                      </a:pPr>
                      <a:r>
                        <a:t>54.78%</a:t>
                      </a:r>
                    </a:p>
                  </a:txBody>
                  <a:tcPr>
                    <a:solidFill>
                      <a:srgbClr val="FFFFFF"/>
                    </a:solidFill>
                  </a:tcPr>
                </a:tc>
              </a:tr>
              <a:tr h="426720">
                <a:tc>
                  <a:txBody>
                    <a:bodyPr wrap="square" lIns="45720" rIns="45720" tIns="27432" bIns="27432"/>
                    <a:lstStyle/>
                    <a:p>
                      <a:pPr algn="l">
                        <a:defRPr sz="900">
                          <a:solidFill>
                            <a:srgbClr val="333333"/>
                          </a:solidFill>
                        </a:defRPr>
                      </a:pPr>
                      <a:r>
                        <a:t>MA Chidambaram Stadium, Chepauk</a:t>
                      </a:r>
                    </a:p>
                  </a:txBody>
                  <a:tcPr>
                    <a:solidFill>
                      <a:srgbClr val="F4F5F7"/>
                    </a:solidFill>
                  </a:tcPr>
                </a:tc>
                <a:tc>
                  <a:txBody>
                    <a:bodyPr wrap="square" lIns="45720" rIns="45720" tIns="27432" bIns="27432"/>
                    <a:lstStyle/>
                    <a:p>
                      <a:pPr algn="ctr">
                        <a:defRPr sz="900">
                          <a:solidFill>
                            <a:srgbClr val="333333"/>
                          </a:solidFill>
                        </a:defRPr>
                      </a:pPr>
                      <a:r>
                        <a:t>48</a:t>
                      </a:r>
                    </a:p>
                  </a:txBody>
                  <a:tcPr>
                    <a:solidFill>
                      <a:srgbClr val="F4F5F7"/>
                    </a:solidFill>
                  </a:tcPr>
                </a:tc>
                <a:tc>
                  <a:txBody>
                    <a:bodyPr wrap="square" lIns="45720" rIns="45720" tIns="27432" bIns="27432"/>
                    <a:lstStyle/>
                    <a:p>
                      <a:pPr algn="ctr">
                        <a:defRPr sz="900">
                          <a:solidFill>
                            <a:srgbClr val="333333"/>
                          </a:solidFill>
                        </a:defRPr>
                      </a:pPr>
                      <a:r>
                        <a:t>318.27</a:t>
                      </a:r>
                    </a:p>
                  </a:txBody>
                  <a:tcPr>
                    <a:solidFill>
                      <a:srgbClr val="F4F5F7"/>
                    </a:solidFill>
                  </a:tcPr>
                </a:tc>
                <a:tc>
                  <a:txBody>
                    <a:bodyPr wrap="square" lIns="45720" rIns="45720" tIns="27432" bIns="27432"/>
                    <a:lstStyle/>
                    <a:p>
                      <a:pPr algn="ctr">
                        <a:defRPr sz="900">
                          <a:solidFill>
                            <a:srgbClr val="333333"/>
                          </a:solidFill>
                        </a:defRPr>
                      </a:pPr>
                      <a:r>
                        <a:t>469</a:t>
                      </a:r>
                    </a:p>
                  </a:txBody>
                  <a:tcPr>
                    <a:solidFill>
                      <a:srgbClr val="F4F5F7"/>
                    </a:solidFill>
                  </a:tcPr>
                </a:tc>
                <a:tc>
                  <a:txBody>
                    <a:bodyPr wrap="square" lIns="45720" rIns="45720" tIns="27432" bIns="27432"/>
                    <a:lstStyle/>
                    <a:p>
                      <a:pPr algn="ctr">
                        <a:defRPr sz="900">
                          <a:solidFill>
                            <a:srgbClr val="333333"/>
                          </a:solidFill>
                        </a:defRPr>
                      </a:pPr>
                      <a:r>
                        <a:t>51.84%</a:t>
                      </a:r>
                    </a:p>
                  </a:txBody>
                  <a:tcPr>
                    <a:solidFill>
                      <a:srgbClr val="F4F5F7"/>
                    </a:solidFill>
                  </a:tcPr>
                </a:tc>
              </a:tr>
              <a:tr h="426720">
                <a:tc>
                  <a:txBody>
                    <a:bodyPr wrap="square" lIns="45720" rIns="45720" tIns="27432" bIns="27432"/>
                    <a:lstStyle/>
                    <a:p>
                      <a:pPr algn="l">
                        <a:defRPr sz="900">
                          <a:solidFill>
                            <a:srgbClr val="333333"/>
                          </a:solidFill>
                        </a:defRPr>
                      </a:pPr>
                      <a:r>
                        <a:t>M Chinnaswamy Stadium</a:t>
                      </a:r>
                    </a:p>
                  </a:txBody>
                  <a:tcPr>
                    <a:solidFill>
                      <a:srgbClr val="FFFFFF"/>
                    </a:solidFill>
                  </a:tcPr>
                </a:tc>
                <a:tc>
                  <a:txBody>
                    <a:bodyPr wrap="square" lIns="45720" rIns="45720" tIns="27432" bIns="27432"/>
                    <a:lstStyle/>
                    <a:p>
                      <a:pPr algn="ctr">
                        <a:defRPr sz="900">
                          <a:solidFill>
                            <a:srgbClr val="333333"/>
                          </a:solidFill>
                        </a:defRPr>
                      </a:pPr>
                      <a:r>
                        <a:t>58</a:t>
                      </a:r>
                    </a:p>
                  </a:txBody>
                  <a:tcPr>
                    <a:solidFill>
                      <a:srgbClr val="FFFFFF"/>
                    </a:solidFill>
                  </a:tcPr>
                </a:tc>
                <a:tc>
                  <a:txBody>
                    <a:bodyPr wrap="square" lIns="45720" rIns="45720" tIns="27432" bIns="27432"/>
                    <a:lstStyle/>
                    <a:p>
                      <a:pPr algn="ctr">
                        <a:defRPr sz="900">
                          <a:solidFill>
                            <a:srgbClr val="333333"/>
                          </a:solidFill>
                        </a:defRPr>
                      </a:pPr>
                      <a:r>
                        <a:t>317.93</a:t>
                      </a:r>
                    </a:p>
                  </a:txBody>
                  <a:tcPr>
                    <a:solidFill>
                      <a:srgbClr val="FFFFFF"/>
                    </a:solidFill>
                  </a:tcPr>
                </a:tc>
                <a:tc>
                  <a:txBody>
                    <a:bodyPr wrap="square" lIns="45720" rIns="45720" tIns="27432" bIns="27432"/>
                    <a:lstStyle/>
                    <a:p>
                      <a:pPr algn="ctr">
                        <a:defRPr sz="900">
                          <a:solidFill>
                            <a:srgbClr val="333333"/>
                          </a:solidFill>
                        </a:defRPr>
                      </a:pPr>
                      <a:r>
                        <a:t>473</a:t>
                      </a:r>
                    </a:p>
                  </a:txBody>
                  <a:tcPr>
                    <a:solidFill>
                      <a:srgbClr val="FFFFFF"/>
                    </a:solidFill>
                  </a:tcPr>
                </a:tc>
                <a:tc>
                  <a:txBody>
                    <a:bodyPr wrap="square" lIns="45720" rIns="45720" tIns="27432" bIns="27432"/>
                    <a:lstStyle/>
                    <a:p>
                      <a:pPr algn="ctr">
                        <a:defRPr sz="900">
                          <a:solidFill>
                            <a:srgbClr val="333333"/>
                          </a:solidFill>
                        </a:defRPr>
                      </a:pPr>
                      <a:r>
                        <a:t>60.46%</a:t>
                      </a:r>
                    </a:p>
                  </a:txBody>
                  <a:tcPr>
                    <a:solidFill>
                      <a:srgbClr val="FFFFFF"/>
                    </a:solidFill>
                  </a:tcPr>
                </a:tc>
              </a:tr>
              <a:tr h="426720">
                <a:tc>
                  <a:txBody>
                    <a:bodyPr wrap="square" lIns="45720" rIns="45720" tIns="27432" bIns="27432"/>
                    <a:lstStyle/>
                    <a:p>
                      <a:pPr algn="l">
                        <a:defRPr sz="900">
                          <a:solidFill>
                            <a:srgbClr val="333333"/>
                          </a:solidFill>
                        </a:defRPr>
                      </a:pPr>
                      <a:r>
                        <a:t>Wankhede Stadium</a:t>
                      </a:r>
                    </a:p>
                  </a:txBody>
                  <a:tcPr>
                    <a:solidFill>
                      <a:srgbClr val="F4F5F7"/>
                    </a:solidFill>
                  </a:tcPr>
                </a:tc>
                <a:tc>
                  <a:txBody>
                    <a:bodyPr wrap="square" lIns="45720" rIns="45720" tIns="27432" bIns="27432"/>
                    <a:lstStyle/>
                    <a:p>
                      <a:pPr algn="ctr">
                        <a:defRPr sz="900">
                          <a:solidFill>
                            <a:srgbClr val="333333"/>
                          </a:solidFill>
                        </a:defRPr>
                      </a:pPr>
                      <a:r>
                        <a:t>49</a:t>
                      </a:r>
                    </a:p>
                  </a:txBody>
                  <a:tcPr>
                    <a:solidFill>
                      <a:srgbClr val="F4F5F7"/>
                    </a:solidFill>
                  </a:tcPr>
                </a:tc>
                <a:tc>
                  <a:txBody>
                    <a:bodyPr wrap="square" lIns="45720" rIns="45720" tIns="27432" bIns="27432"/>
                    <a:lstStyle/>
                    <a:p>
                      <a:pPr algn="ctr">
                        <a:defRPr sz="900">
                          <a:solidFill>
                            <a:srgbClr val="333333"/>
                          </a:solidFill>
                        </a:defRPr>
                      </a:pPr>
                      <a:r>
                        <a:t>315.65</a:t>
                      </a:r>
                    </a:p>
                  </a:txBody>
                  <a:tcPr>
                    <a:solidFill>
                      <a:srgbClr val="F4F5F7"/>
                    </a:solidFill>
                  </a:tcPr>
                </a:tc>
                <a:tc>
                  <a:txBody>
                    <a:bodyPr wrap="square" lIns="45720" rIns="45720" tIns="27432" bIns="27432"/>
                    <a:lstStyle/>
                    <a:p>
                      <a:pPr algn="ctr">
                        <a:defRPr sz="900">
                          <a:solidFill>
                            <a:srgbClr val="333333"/>
                          </a:solidFill>
                        </a:defRPr>
                      </a:pPr>
                      <a:r>
                        <a:t>459</a:t>
                      </a:r>
                    </a:p>
                  </a:txBody>
                  <a:tcPr>
                    <a:solidFill>
                      <a:srgbClr val="F4F5F7"/>
                    </a:solidFill>
                  </a:tcPr>
                </a:tc>
                <a:tc>
                  <a:txBody>
                    <a:bodyPr wrap="square" lIns="45720" rIns="45720" tIns="27432" bIns="27432"/>
                    <a:lstStyle/>
                    <a:p>
                      <a:pPr algn="ctr">
                        <a:defRPr sz="900">
                          <a:solidFill>
                            <a:srgbClr val="333333"/>
                          </a:solidFill>
                        </a:defRPr>
                      </a:pPr>
                      <a:r>
                        <a:t>57.65%</a:t>
                      </a:r>
                    </a:p>
                  </a:txBody>
                  <a:tcPr>
                    <a:solidFill>
                      <a:srgbClr val="F4F5F7"/>
                    </a:solidFill>
                  </a:tcPr>
                </a:tc>
              </a:tr>
              <a:tr h="426720">
                <a:tc>
                  <a:txBody>
                    <a:bodyPr wrap="square" lIns="45720" rIns="45720" tIns="27432" bIns="27432"/>
                    <a:lstStyle/>
                    <a:p>
                      <a:pPr algn="l">
                        <a:defRPr sz="900">
                          <a:solidFill>
                            <a:srgbClr val="333333"/>
                          </a:solidFill>
                        </a:defRPr>
                      </a:pPr>
                      <a:r>
                        <a:t>Eden Gardens</a:t>
                      </a:r>
                    </a:p>
                  </a:txBody>
                  <a:tcPr>
                    <a:solidFill>
                      <a:srgbClr val="FFFFFF"/>
                    </a:solidFill>
                  </a:tcPr>
                </a:tc>
                <a:tc>
                  <a:txBody>
                    <a:bodyPr wrap="square" lIns="45720" rIns="45720" tIns="27432" bIns="27432"/>
                    <a:lstStyle/>
                    <a:p>
                      <a:pPr algn="ctr">
                        <a:defRPr sz="900">
                          <a:solidFill>
                            <a:srgbClr val="333333"/>
                          </a:solidFill>
                        </a:defRPr>
                      </a:pPr>
                      <a:r>
                        <a:t>54</a:t>
                      </a:r>
                    </a:p>
                  </a:txBody>
                  <a:tcPr>
                    <a:solidFill>
                      <a:srgbClr val="FFFFFF"/>
                    </a:solidFill>
                  </a:tcPr>
                </a:tc>
                <a:tc>
                  <a:txBody>
                    <a:bodyPr wrap="square" lIns="45720" rIns="45720" tIns="27432" bIns="27432"/>
                    <a:lstStyle/>
                    <a:p>
                      <a:pPr algn="ctr">
                        <a:defRPr sz="900">
                          <a:solidFill>
                            <a:srgbClr val="333333"/>
                          </a:solidFill>
                        </a:defRPr>
                      </a:pPr>
                      <a:r>
                        <a:t>309.28</a:t>
                      </a:r>
                    </a:p>
                  </a:txBody>
                  <a:tcPr>
                    <a:solidFill>
                      <a:srgbClr val="FFFFFF"/>
                    </a:solidFill>
                  </a:tcPr>
                </a:tc>
                <a:tc>
                  <a:txBody>
                    <a:bodyPr wrap="square" lIns="45720" rIns="45720" tIns="27432" bIns="27432"/>
                    <a:lstStyle/>
                    <a:p>
                      <a:pPr algn="ctr">
                        <a:defRPr sz="900">
                          <a:solidFill>
                            <a:srgbClr val="333333"/>
                          </a:solidFill>
                        </a:defRPr>
                      </a:pPr>
                      <a:r>
                        <a:t>400</a:t>
                      </a:r>
                    </a:p>
                  </a:txBody>
                  <a:tcPr>
                    <a:solidFill>
                      <a:srgbClr val="FFFFFF"/>
                    </a:solidFill>
                  </a:tcPr>
                </a:tc>
                <a:tc>
                  <a:txBody>
                    <a:bodyPr wrap="square" lIns="45720" rIns="45720" tIns="27432" bIns="27432"/>
                    <a:lstStyle/>
                    <a:p>
                      <a:pPr algn="ctr">
                        <a:defRPr sz="900">
                          <a:solidFill>
                            <a:srgbClr val="333333"/>
                          </a:solidFill>
                        </a:defRPr>
                      </a:pPr>
                      <a:r>
                        <a:t>50.81%</a:t>
                      </a:r>
                    </a:p>
                  </a:txBody>
                  <a:tcPr>
                    <a:solidFill>
                      <a:srgbClr val="FFFFFF"/>
                    </a:solidFill>
                  </a:tcPr>
                </a:tc>
              </a:tr>
            </a:tbl>
          </a:graphicData>
        </a:graphic>
      </p:graphicFrame>
      <p:sp>
        <p:nvSpPr>
          <p:cNvPr id="5" name="TextBox 4"/>
          <p:cNvSpPr txBox="1"/>
          <p:nvPr/>
        </p:nvSpPr>
        <p:spPr>
          <a:xfrm>
            <a:off x="6675120" y="1463040"/>
            <a:ext cx="4480560" cy="4297680"/>
          </a:xfrm>
          <a:prstGeom prst="rect">
            <a:avLst/>
          </a:prstGeom>
          <a:noFill/>
        </p:spPr>
        <p:txBody>
          <a:bodyPr wrap="square">
            <a:spAutoFit/>
          </a:bodyPr>
          <a:lstStyle/>
          <a:p>
            <a:pPr>
              <a:defRPr b="1" sz="1200">
                <a:solidFill>
                  <a:srgbClr val="DA1A32"/>
                </a:solidFill>
              </a:defRPr>
            </a:pPr>
            <a:r>
              <a:t>• Scoring Velocity Dynamics</a:t>
            </a:r>
          </a:p>
          <a:p>
            <a:pPr>
              <a:spcAft>
                <a:spcPts val="800"/>
              </a:spcAft>
              <a:defRPr sz="1050">
                <a:solidFill>
                  <a:srgbClr val="333333"/>
                </a:solidFill>
              </a:defRPr>
            </a:pPr>
            <a:r>
              <a:t>Brabourne Stadium recorded the highest average match total (349.18 runs) among grounds hosting &gt;=10 matches, while M Chinnaswamy Stadium recorded the highest boundary-run share (60.46% of all runs from 4s and 6s) in the result set.</a:t>
            </a:r>
          </a:p>
          <a:p>
            <a:pPr>
              <a:defRPr b="1" sz="1200">
                <a:solidFill>
                  <a:srgbClr val="DA1A32"/>
                </a:solidFill>
              </a:defRPr>
            </a:pPr>
            <a:r>
              <a:t>• Bowling Tactical Preparation</a:t>
            </a:r>
          </a:p>
          <a:p>
            <a:pPr>
              <a:spcAft>
                <a:spcPts val="800"/>
              </a:spcAft>
              <a:defRPr sz="1050">
                <a:solidFill>
                  <a:srgbClr val="333333"/>
                </a:solidFill>
              </a:defRPr>
            </a:pPr>
            <a:r>
              <a:t>Venues with extreme boundary reliance demand tactical discipline: pace variation, wide yorkers, and hard lengths to suppress boundary volume, rather than relying on standard lengths.</a:t>
            </a:r>
          </a:p>
          <a:p>
            <a:pPr>
              <a:defRPr b="1" sz="1200">
                <a:solidFill>
                  <a:srgbClr val="DA1A32"/>
                </a:solidFill>
              </a:defRPr>
            </a:pPr>
            <a:r>
              <a:t>• Viewership Impact Disclosure</a:t>
            </a:r>
          </a:p>
          <a:p>
            <a:pPr>
              <a:defRPr sz="1050">
                <a:solidFill>
                  <a:srgbClr val="333333"/>
                </a:solidFill>
              </a:defRPr>
            </a:pPr>
            <a:r>
              <a:t>Viewership impact cannot be measured directly from the provided IPL database because the dataset does not contain television ratings (TRPs), streaming views, or social-engagement data.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100" b="1">
                <a:solidFill>
                  <a:srgbClr val="DA1A32"/>
                </a:solidFill>
              </a:defRPr>
            </a:pPr>
            <a:r>
              <a:t>FORTRESS CONVERSION GAP</a:t>
            </a:r>
          </a:p>
          <a:p>
            <a:pPr>
              <a:defRPr sz="2200" b="1">
                <a:solidFill>
                  <a:srgbClr val="0F1E36"/>
                </a:solidFill>
              </a:defRPr>
            </a:pPr>
            <a:r>
              <a:t>RCB Home vs Away Win Percentage</a:t>
            </a:r>
          </a:p>
        </p:txBody>
      </p:sp>
      <p:pic>
        <p:nvPicPr>
          <p:cNvPr id="3" name="Picture 2" descr="chart_s8_home_away_balance.png"/>
          <p:cNvPicPr>
            <a:picLocks noChangeAspect="1"/>
          </p:cNvPicPr>
          <p:nvPr/>
        </p:nvPicPr>
        <p:blipFill>
          <a:blip r:embed="rId2"/>
          <a:stretch>
            <a:fillRect/>
          </a:stretch>
        </p:blipFill>
        <p:spPr>
          <a:xfrm>
            <a:off x="731520" y="1645920"/>
            <a:ext cx="5486400" cy="3291840"/>
          </a:xfrm>
          <a:prstGeom prst="rect">
            <a:avLst/>
          </a:prstGeom>
        </p:spPr>
      </p:pic>
      <p:sp>
        <p:nvSpPr>
          <p:cNvPr id="4" name="TextBox 3"/>
          <p:cNvSpPr txBox="1"/>
          <p:nvPr/>
        </p:nvSpPr>
        <p:spPr>
          <a:xfrm>
            <a:off x="6492240" y="1645920"/>
            <a:ext cx="4937760" cy="4572000"/>
          </a:xfrm>
          <a:prstGeom prst="rect">
            <a:avLst/>
          </a:prstGeom>
          <a:noFill/>
        </p:spPr>
        <p:txBody>
          <a:bodyPr wrap="square" lIns="0" tIns="0" rIns="0" bIns="0">
            <a:spAutoFit/>
          </a:bodyPr>
          <a:lstStyle/>
          <a:p>
            <a:pPr>
              <a:spcBef>
                <a:spcPts val="0"/>
              </a:spcBef>
              <a:defRPr sz="1300" b="1">
                <a:solidFill>
                  <a:srgbClr val="DA1A32"/>
                </a:solidFill>
              </a:defRPr>
            </a:pPr>
            <a:r>
              <a:t>• Home vs. Away/Neutral Record</a:t>
            </a:r>
          </a:p>
          <a:p>
            <a:pPr>
              <a:spcAft>
                <a:spcPts val="1000"/>
              </a:spcAft>
              <a:defRPr sz="1100">
                <a:solidFill>
                  <a:srgbClr val="333333"/>
                </a:solidFill>
              </a:defRPr>
            </a:pPr>
            <a:r>
              <a:t>RCB recorded a 53.70% win percentage at M Chinnaswamy Stadium (29 wins, 25 losses in 54 completed matches) compared to 49.40% at away/neutral venues (41 wins, 42 losses in 83 completed matches).</a:t>
            </a:r>
          </a:p>
          <a:p>
            <a:pPr>
              <a:defRPr b="1" sz="1300">
                <a:solidFill>
                  <a:srgbClr val="DA1A32"/>
                </a:solidFill>
              </a:defRPr>
            </a:pPr>
            <a:r>
              <a:t>• Home Ground Reality</a:t>
            </a:r>
          </a:p>
          <a:p>
            <a:pPr>
              <a:spcAft>
                <a:spcPts val="1000"/>
              </a:spcAft>
              <a:defRPr sz="1100">
                <a:solidFill>
                  <a:srgbClr val="333333"/>
                </a:solidFill>
              </a:defRPr>
            </a:pPr>
            <a:r>
              <a:t>While Chinnaswamy provides a modest positive differential (+4.30 percentage points), home advantage alone is insufficient to secure positive outcomes, requiring tactical adjustments tailored to the venue's scoring dynamics.</a:t>
            </a:r>
          </a:p>
          <a:p>
            <a:pPr>
              <a:defRPr b="1" sz="1300">
                <a:solidFill>
                  <a:srgbClr val="DA1A32"/>
                </a:solidFill>
              </a:defRPr>
            </a:pPr>
            <a:r>
              <a:t>• Ground Maximization Strategy</a:t>
            </a:r>
          </a:p>
          <a:p>
            <a:pPr>
              <a:defRPr sz="1100">
                <a:solidFill>
                  <a:srgbClr val="333333"/>
                </a:solidFill>
              </a:defRPr>
            </a:pPr>
            <a:r>
              <a:t>Chinnaswamy's short boundaries require defensive disciplines—pace-off deliveries, cutters, and disciplined lengths—rather than relying on express pace alone.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100" b="1">
                <a:solidFill>
                  <a:srgbClr val="DA1A32"/>
                </a:solidFill>
              </a:defRPr>
            </a:pPr>
            <a:r>
              <a:t>SEASON BALANCE SHEET &amp; RUN DIFFERENTIAL ANALYSIS</a:t>
            </a:r>
          </a:p>
          <a:p>
            <a:pPr>
              <a:defRPr sz="1800" b="1">
                <a:solidFill>
                  <a:srgbClr val="0F1E36"/>
                </a:solidFill>
              </a:defRPr>
            </a:pPr>
            <a:r>
              <a:t>RCB Historical Scoring vs Conceding Dynamics (2008–2016)</a:t>
            </a:r>
          </a:p>
        </p:txBody>
      </p:sp>
      <p:pic>
        <p:nvPicPr>
          <p:cNvPr id="3" name="Picture 2" descr="chart_s9_net_run_differential.png"/>
          <p:cNvPicPr>
            <a:picLocks noChangeAspect="1"/>
          </p:cNvPicPr>
          <p:nvPr/>
        </p:nvPicPr>
        <p:blipFill>
          <a:blip r:embed="rId2"/>
          <a:stretch>
            <a:fillRect/>
          </a:stretch>
        </p:blipFill>
        <p:spPr>
          <a:xfrm>
            <a:off x="731520" y="1645920"/>
            <a:ext cx="5486400" cy="2743200"/>
          </a:xfrm>
          <a:prstGeom prst="rect">
            <a:avLst/>
          </a:prstGeom>
        </p:spPr>
      </p:pic>
      <p:sp>
        <p:nvSpPr>
          <p:cNvPr id="4" name="TextBox 3"/>
          <p:cNvSpPr txBox="1"/>
          <p:nvPr/>
        </p:nvSpPr>
        <p:spPr>
          <a:xfrm>
            <a:off x="6492240" y="1645920"/>
            <a:ext cx="4937760" cy="4572000"/>
          </a:xfrm>
          <a:prstGeom prst="rect">
            <a:avLst/>
          </a:prstGeom>
          <a:noFill/>
        </p:spPr>
        <p:txBody>
          <a:bodyPr wrap="square" lIns="0" tIns="0" rIns="0" bIns="0">
            <a:spAutoFit/>
          </a:bodyPr>
          <a:lstStyle/>
          <a:p>
            <a:pPr>
              <a:spcBef>
                <a:spcPts val="0"/>
              </a:spcBef>
              <a:defRPr sz="1300" b="1">
                <a:solidFill>
                  <a:srgbClr val="DA1A32"/>
                </a:solidFill>
              </a:defRPr>
            </a:pPr>
            <a:r>
              <a:t>• Season Run Differential Trends</a:t>
            </a:r>
          </a:p>
          <a:p>
            <a:pPr>
              <a:spcAft>
                <a:spcPts val="1000"/>
              </a:spcAft>
              <a:defRPr sz="1100">
                <a:solidFill>
                  <a:srgbClr val="333333"/>
                </a:solidFill>
              </a:defRPr>
            </a:pPr>
            <a:r>
              <a:t>In 6 of 9 seasons (2008, 2009, 2010, 2011, 2012, 2014), RCB recorded a negative net run differential, conceding more runs than they scored. Positive net differentials occurred in 2013 (+180), 2015 (+120), and 2016 (+266), coinciding with deep playoff runs.</a:t>
            </a:r>
          </a:p>
          <a:p>
            <a:pPr>
              <a:defRPr b="1" sz="1300">
                <a:solidFill>
                  <a:srgbClr val="DA1A32"/>
                </a:solidFill>
              </a:defRPr>
            </a:pPr>
            <a:r>
              <a:t>• 2016 High-Scoring Campaign</a:t>
            </a:r>
          </a:p>
          <a:p>
            <a:pPr>
              <a:spcAft>
                <a:spcPts val="1000"/>
              </a:spcAft>
              <a:defRPr sz="1100">
                <a:solidFill>
                  <a:srgbClr val="333333"/>
                </a:solidFill>
              </a:defRPr>
            </a:pPr>
            <a:r>
              <a:t>In 2016, RCB scored 2,977 runs while conceding 2,711 runs (+266 differential) and took 89 wickets across 16 matches, culminating in the 2016 IPL final appearance.</a:t>
            </a:r>
          </a:p>
          <a:p>
            <a:pPr>
              <a:defRPr b="1" sz="1300">
                <a:solidFill>
                  <a:srgbClr val="DA1A32"/>
                </a:solidFill>
              </a:defRPr>
            </a:pPr>
            <a:r>
              <a:t>• Analytical Finding</a:t>
            </a:r>
          </a:p>
          <a:p>
            <a:pPr>
              <a:defRPr sz="1100">
                <a:solidFill>
                  <a:srgbClr val="333333"/>
                </a:solidFill>
              </a:defRPr>
            </a:pPr>
            <a:r>
              <a:t>The season-level balance sheet identifies run prevention and bowling performance as consistent areas for strategic attention, though the SQL analysis alone does not establish a single causal explanation for the absence of a trophy.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spcAft>
                <a:spcPts val="200"/>
              </a:spcAft>
              <a:defRPr b="1" sz="1100">
                <a:solidFill>
                  <a:srgbClr val="DA1A32"/>
                </a:solidFill>
              </a:defRPr>
            </a:pPr>
            <a:r>
              <a:t>STRATEGIC ANALYTICAL FRAMEWORK &amp; FUTURE WORK (S10)</a:t>
            </a:r>
          </a:p>
          <a:p>
            <a:pPr>
              <a:defRPr b="1" sz="1800">
                <a:solidFill>
                  <a:srgbClr val="0F1E36"/>
                </a:solidFill>
              </a:defRPr>
            </a:pPr>
            <a:r>
              <a:t>Empirical Whole-Match Diagnostic &amp; Advanced Modeling Roadmap</a:t>
            </a:r>
          </a:p>
        </p:txBody>
      </p:sp>
      <p:sp>
        <p:nvSpPr>
          <p:cNvPr id="3" name="TextBox 2"/>
          <p:cNvSpPr txBox="1"/>
          <p:nvPr/>
        </p:nvSpPr>
        <p:spPr>
          <a:xfrm>
            <a:off x="731520" y="1463040"/>
            <a:ext cx="4846320" cy="4297680"/>
          </a:xfrm>
          <a:prstGeom prst="rect">
            <a:avLst/>
          </a:prstGeom>
          <a:noFill/>
        </p:spPr>
        <p:txBody>
          <a:bodyPr wrap="square">
            <a:spAutoFit/>
          </a:bodyPr>
          <a:lstStyle/>
          <a:p>
            <a:pPr>
              <a:spcAft>
                <a:spcPts val="400"/>
              </a:spcAft>
              <a:defRPr b="1" sz="1300">
                <a:solidFill>
                  <a:srgbClr val="DA1A32"/>
                </a:solidFill>
              </a:defRPr>
            </a:pPr>
            <a:r>
              <a:t>1. Completed Baseline Diagnostic (SQL S10)</a:t>
            </a:r>
          </a:p>
          <a:p>
            <a:pPr>
              <a:spcAft>
                <a:spcPts val="800"/>
              </a:spcAft>
              <a:defRPr sz="1050">
                <a:solidFill>
                  <a:srgbClr val="333333"/>
                </a:solidFill>
              </a:defRPr>
            </a:pPr>
            <a:r>
              <a:t>The SQL query establishes a complete franchise balance sheet across all 139 matches played by RCB:</a:t>
            </a:r>
            <a:br/>
            <a:r>
              <a:t>• Total Matches Analyzed: 139</a:t>
            </a:r>
            <a:br/>
            <a:r>
              <a:t>• All-Time Win Rate: 50.72% (70 wins, 67 losses, 2 NR)</a:t>
            </a:r>
            <a:br/>
            <a:r>
              <a:t>• Average Runs Scored / Match: 152.01 runs</a:t>
            </a:r>
            <a:br/>
            <a:r>
              <a:t>• Average Runs Conceded / Match: 146.65 runs</a:t>
            </a:r>
            <a:br/>
            <a:r>
              <a:t>• Net Scoring Margin: +5.36 runs per match</a:t>
            </a:r>
          </a:p>
          <a:p>
            <a:pPr>
              <a:defRPr b="1" sz="1200">
                <a:solidFill>
                  <a:srgbClr val="0F1E36"/>
                </a:solidFill>
              </a:defRPr>
            </a:pPr>
            <a:r>
              <a:t>• Strategic Interpretation</a:t>
            </a:r>
          </a:p>
          <a:p>
            <a:pPr>
              <a:defRPr sz="1050">
                <a:solidFill>
                  <a:srgbClr val="333333"/>
                </a:solidFill>
              </a:defRPr>
            </a:pPr>
            <a:r>
              <a:t>Across 9 seasons, RCB maintained a positive average run margin (+5.36 runs/match). The analysis indicates that season-level volatility, death-overs run leakage, and knockout match variance contributed to tournament elimination.</a:t>
            </a:r>
          </a:p>
        </p:txBody>
      </p:sp>
      <p:sp>
        <p:nvSpPr>
          <p:cNvPr id="4" name="TextBox 3"/>
          <p:cNvSpPr txBox="1"/>
          <p:nvPr/>
        </p:nvSpPr>
        <p:spPr>
          <a:xfrm>
            <a:off x="5943600" y="1463040"/>
            <a:ext cx="5212080" cy="4297680"/>
          </a:xfrm>
          <a:prstGeom prst="rect">
            <a:avLst/>
          </a:prstGeom>
          <a:noFill/>
        </p:spPr>
        <p:txBody>
          <a:bodyPr wrap="square">
            <a:spAutoFit/>
          </a:bodyPr>
          <a:lstStyle/>
          <a:p>
            <a:pPr>
              <a:spcAft>
                <a:spcPts val="400"/>
              </a:spcAft>
              <a:defRPr b="1" sz="1300">
                <a:solidFill>
                  <a:srgbClr val="DA1A32"/>
                </a:solidFill>
              </a:defRPr>
            </a:pPr>
            <a:r>
              <a:t>2. Potential Next-Step Analysis (Future Work)</a:t>
            </a:r>
          </a:p>
          <a:p>
            <a:pPr>
              <a:defRPr sz="1000">
                <a:solidFill>
                  <a:srgbClr val="333333"/>
                </a:solidFill>
              </a:defRPr>
            </a:pPr>
            <a:r>
              <a:t>• Runs Above Average (RAA):</a:t>
            </a:r>
            <a:br/>
            <a:r>
              <a:t>  Advanced player valuation model to isolate individual batting contributions above league replacement levels, normalized for match phase and venue scoring benchmarks.</a:t>
            </a:r>
            <a:br/>
            <a:br/>
            <a:r>
              <a:t>• Wickets Above Expected (WAE):</a:t>
            </a:r>
            <a:br/>
            <a:r>
              <a:t>  Context-dependent bowling metric evaluating dismissal probability per delivery conditioned on batsman quality and phase par.</a:t>
            </a:r>
            <a:br/>
            <a:br/>
            <a:r>
              <a:t>• Auction Portfolio Optimization (Linear Programming):</a:t>
            </a:r>
            <a:br/>
            <a:r>
              <a:t>  Mathematical optimization model to allocate auction budget across required player archetypes under purse caps.</a:t>
            </a:r>
            <a:br/>
            <a:br/>
            <a:r>
              <a:t>• Methodological Classification:</a:t>
            </a:r>
            <a:br/>
            <a:r>
              <a:t>  These advanced models represent proposed next-step analytical extensions and future research directions rather than completed database outputs in the current analysis.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100" b="1">
                <a:solidFill>
                  <a:srgbClr val="DA1A32"/>
                </a:solidFill>
              </a:defRPr>
            </a:pPr>
            <a:r>
              <a:t>STRATEGIC DIRECTIVE</a:t>
            </a:r>
          </a:p>
          <a:p>
            <a:pPr>
              <a:defRPr sz="2200" b="1">
                <a:solidFill>
                  <a:srgbClr val="0F1E36"/>
                </a:solidFill>
              </a:defRPr>
            </a:pPr>
            <a:r>
              <a:t>Tactical &amp; Squad Rebalancing Recommendations</a:t>
            </a:r>
          </a:p>
        </p:txBody>
      </p:sp>
      <p:sp>
        <p:nvSpPr>
          <p:cNvPr id="3" name="TextBox 2"/>
          <p:cNvSpPr txBox="1"/>
          <p:nvPr/>
        </p:nvSpPr>
        <p:spPr>
          <a:xfrm>
            <a:off x="914400" y="1645920"/>
            <a:ext cx="10332720" cy="4572000"/>
          </a:xfrm>
          <a:prstGeom prst="rect">
            <a:avLst/>
          </a:prstGeom>
          <a:noFill/>
        </p:spPr>
        <p:txBody>
          <a:bodyPr wrap="square">
            <a:spAutoFit/>
          </a:bodyPr>
          <a:lstStyle/>
          <a:p>
            <a:pPr>
              <a:spcBef>
                <a:spcPts val="0"/>
              </a:spcBef>
              <a:defRPr sz="1400" b="1">
                <a:solidFill>
                  <a:srgbClr val="DA1A32"/>
                </a:solidFill>
              </a:defRPr>
            </a:pPr>
            <a:r>
              <a:t>1. Phase-Specific Bowling Overhaul (The Death-Overs Imperative)</a:t>
            </a:r>
          </a:p>
          <a:p>
            <a:pPr>
              <a:spcAft>
                <a:spcPts val="1000"/>
              </a:spcAft>
              <a:defRPr sz="1200">
                <a:solidFill>
                  <a:srgbClr val="333333"/>
                </a:solidFill>
              </a:defRPr>
            </a:pPr>
            <a:r>
              <a:t>RCB's #1 priority is capping the 9.56 death overs economy. Target specialized pace bowlers who can execute wide-line yorkers, slower bouncers, and knuckleballs under high pressure.</a:t>
            </a:r>
          </a:p>
          <a:p>
            <a:pPr>
              <a:defRPr b="1" sz="1400">
                <a:solidFill>
                  <a:srgbClr val="DA1A32"/>
                </a:solidFill>
              </a:defRPr>
            </a:pPr>
            <a:r>
              <a:t>2. Venue-Specific Tactical &amp; Pitch Calibration</a:t>
            </a:r>
          </a:p>
          <a:p>
            <a:pPr>
              <a:spcAft>
                <a:spcPts val="1000"/>
              </a:spcAft>
              <a:defRPr sz="1200">
                <a:solidFill>
                  <a:srgbClr val="333333"/>
                </a:solidFill>
              </a:defRPr>
            </a:pPr>
            <a:r>
              <a:t>Align toss and fielding tactics conditionally with ground-specific scoring environments (evaluating dew-favored chasing venues separately from defensive spin tracks like Chepauk). Home ground preparation should emphasize pitch characteristics that assist bowling control and containment without assuming home ground alone dictates positive outcomes.</a:t>
            </a:r>
          </a:p>
          <a:p>
            <a:pPr>
              <a:defRPr b="1" sz="1400">
                <a:solidFill>
                  <a:srgbClr val="DA1A32"/>
                </a:solidFill>
              </a:defRPr>
            </a:pPr>
            <a:r>
              <a:t>3. De-Risking Top-Order Dependency</a:t>
            </a:r>
          </a:p>
          <a:p>
            <a:pPr>
              <a:defRPr sz="1200">
                <a:solidFill>
                  <a:srgbClr val="333333"/>
                </a:solidFill>
              </a:defRPr>
            </a:pPr>
            <a:r>
              <a:t>Virat Kohli, Chris Gayle, and AB de Villiers produce over 70% of batting runs. Recruit dependable numbers 4 and 5 batsmen who excel against spin to prevent catastrophic collapses when early wickets fall.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100" b="1">
                <a:solidFill>
                  <a:srgbClr val="DA1A32"/>
                </a:solidFill>
              </a:defRPr>
            </a:pPr>
            <a:r>
              <a:t>STRATEGIC CONCLUSION &amp; PURSE STRATEGY</a:t>
            </a:r>
          </a:p>
          <a:p>
            <a:pPr>
              <a:defRPr sz="2200" b="1">
                <a:solidFill>
                  <a:srgbClr val="0F1E36"/>
                </a:solidFill>
              </a:defRPr>
            </a:pPr>
            <a:r>
              <a:t>2017 Mega Auction War-Room Allocation Blueprint</a:t>
            </a:r>
          </a:p>
        </p:txBody>
      </p:sp>
      <p:sp>
        <p:nvSpPr>
          <p:cNvPr id="3" name="TextBox 2"/>
          <p:cNvSpPr txBox="1"/>
          <p:nvPr/>
        </p:nvSpPr>
        <p:spPr>
          <a:xfrm>
            <a:off x="914400" y="1645920"/>
            <a:ext cx="10332720" cy="4572000"/>
          </a:xfrm>
          <a:prstGeom prst="rect">
            <a:avLst/>
          </a:prstGeom>
          <a:noFill/>
        </p:spPr>
        <p:txBody>
          <a:bodyPr wrap="square">
            <a:spAutoFit/>
          </a:bodyPr>
          <a:lstStyle/>
          <a:p>
            <a:pPr>
              <a:spcBef>
                <a:spcPts val="0"/>
              </a:spcBef>
              <a:defRPr sz="1400" b="1">
                <a:solidFill>
                  <a:srgbClr val="DA1A32"/>
                </a:solidFill>
              </a:defRPr>
            </a:pPr>
            <a:r>
              <a:t>1. Dynamic Auction Resource Allocation</a:t>
            </a:r>
          </a:p>
          <a:p>
            <a:pPr>
              <a:spcAft>
                <a:spcPts val="1000"/>
              </a:spcAft>
              <a:defRPr sz="1200">
                <a:solidFill>
                  <a:srgbClr val="333333"/>
                </a:solidFill>
              </a:defRPr>
            </a:pPr>
            <a:r>
              <a:t>The high death-overs economy (9.56 RPO) identifies death bowling and squad balance as critical areas for squad-strengthening consideration. Auction allocation should be evaluated dynamically using player market cost, role coverage, availability, and projected contribution rather than a fixed percentage derived from database queries alone.</a:t>
            </a:r>
          </a:p>
          <a:p>
            <a:pPr>
              <a:defRPr b="1" sz="1400">
                <a:solidFill>
                  <a:srgbClr val="DA1A32"/>
                </a:solidFill>
              </a:defRPr>
            </a:pPr>
            <a:r>
              <a:t>2. Data-Driven Matchups &amp; Scouting</a:t>
            </a:r>
          </a:p>
          <a:p>
            <a:pPr>
              <a:spcAft>
                <a:spcPts val="1000"/>
              </a:spcAft>
              <a:defRPr sz="1200">
                <a:solidFill>
                  <a:srgbClr val="333333"/>
                </a:solidFill>
              </a:defRPr>
            </a:pPr>
            <a:r>
              <a:t>Utilize predictive strike-rate splits (Spin vs Pace) and venue efficiency metrics to identify undervalued assets before rival franchises drive up price tags.</a:t>
            </a:r>
          </a:p>
          <a:p>
            <a:pPr>
              <a:defRPr b="1" sz="1400">
                <a:solidFill>
                  <a:srgbClr val="DA1A32"/>
                </a:solidFill>
              </a:defRPr>
            </a:pPr>
            <a:r>
              <a:t>3. Core Retention Mandate</a:t>
            </a:r>
          </a:p>
          <a:p>
            <a:pPr>
              <a:defRPr sz="1200">
                <a:solidFill>
                  <a:srgbClr val="333333"/>
                </a:solidFill>
              </a:defRPr>
            </a:pPr>
            <a:r>
              <a:t>Retain Virat Kohli and AB de Villiers as core franchise pillars, building dedicated death-bowling depth around them.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